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25" y="-714375"/>
            <a:ext cx="4286250" cy="42862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428625" y="2143125"/>
            <a:ext cx="3571875" cy="357187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h2p-svg-1781507736812-616n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4825" y="457200"/>
            <a:ext cx="514350" cy="514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257300"/>
            <a:ext cx="8595248" cy="5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3"/>
              </a:lnSpc>
              <a:buNone/>
            </a:pPr>
            <a:r>
              <a:rPr lang="en-US" sz="4050" b="1" spc="-81" kern="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YeneQR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2588819" y="1940198"/>
            <a:ext cx="3966362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spc="-16" kern="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 Your Restaurant with One Scan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2744539" y="2497410"/>
            <a:ext cx="3654921" cy="23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1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customers scan. Your kitchen knows. Your business grows.</a:t>
            </a:r>
            <a:endParaRPr lang="en-US" sz="1013" dirty="0"/>
          </a:p>
        </p:txBody>
      </p:sp>
      <p:sp>
        <p:nvSpPr>
          <p:cNvPr id="8" name="Text 5"/>
          <p:cNvSpPr/>
          <p:nvPr/>
        </p:nvSpPr>
        <p:spPr>
          <a:xfrm>
            <a:off x="3886200" y="4261247"/>
            <a:ext cx="1371600" cy="502217"/>
          </a:xfrm>
          <a:prstGeom prst="rect">
            <a:avLst/>
          </a:prstGeom>
          <a:noFill/>
          <a:ln/>
        </p:spPr>
        <p:txBody>
          <a:bodyPr wrap="square" lIns="0" tIns="28575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by Repux Technologies PLC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3488" y="2319598"/>
            <a:ext cx="32861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6041" y="2316026"/>
            <a:ext cx="0" cy="1259979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43488" y="3572433"/>
            <a:ext cx="32861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57775" y="2316026"/>
            <a:ext cx="0" cy="1259979"/>
          </a:xfrm>
          <a:prstGeom prst="line">
            <a:avLst/>
          </a:prstGeom>
          <a:noFill/>
          <a:ln w="28575">
            <a:solidFill>
              <a:srgbClr val="039D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636000" cy="333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Restaurant Reality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457200" y="822871"/>
            <a:ext cx="5143500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day, restaurants lose time, money, and customers to problems that shouldn't exist.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0772" y="1209303"/>
            <a:ext cx="3993356" cy="772864"/>
          </a:xfrm>
          <a:prstGeom prst="roundRect">
            <a:avLst>
              <a:gd name="adj" fmla="val 17254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7219" y="1341462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0438" y="138468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1035844" y="1341462"/>
            <a:ext cx="3271838" cy="181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Paper Menus Are Expensive</a:t>
            </a:r>
            <a:endParaRPr lang="en-US" sz="945" dirty="0"/>
          </a:p>
        </p:txBody>
      </p:sp>
      <p:sp>
        <p:nvSpPr>
          <p:cNvPr id="12" name="Text 10"/>
          <p:cNvSpPr/>
          <p:nvPr/>
        </p:nvSpPr>
        <p:spPr>
          <a:xfrm>
            <a:off x="1035844" y="1549971"/>
            <a:ext cx="32718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Reprinting costs add up. Changes take days. No photos, no dietary info, no translations.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0772" y="2089324"/>
            <a:ext cx="3993356" cy="772864"/>
          </a:xfrm>
          <a:prstGeom prst="roundRect">
            <a:avLst>
              <a:gd name="adj" fmla="val 17254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7219" y="2221483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0438" y="226470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1035844" y="2221483"/>
            <a:ext cx="3381566" cy="1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Verbal Orders Create Chaos</a:t>
            </a:r>
            <a:endParaRPr lang="en-US" sz="945" dirty="0"/>
          </a:p>
        </p:txBody>
      </p:sp>
      <p:sp>
        <p:nvSpPr>
          <p:cNvPr id="17" name="Text 15"/>
          <p:cNvSpPr/>
          <p:nvPr/>
        </p:nvSpPr>
        <p:spPr>
          <a:xfrm>
            <a:off x="1035844" y="2429991"/>
            <a:ext cx="32718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Misheard items, wrong spice levels, forgotten modifications — your staff and customers both suffer.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0772" y="2969344"/>
            <a:ext cx="3993356" cy="772864"/>
          </a:xfrm>
          <a:prstGeom prst="roundRect">
            <a:avLst>
              <a:gd name="adj" fmla="val 17254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7219" y="3101504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0438" y="314472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21" name="Text 19"/>
          <p:cNvSpPr/>
          <p:nvPr/>
        </p:nvSpPr>
        <p:spPr>
          <a:xfrm>
            <a:off x="1035844" y="3101504"/>
            <a:ext cx="3381566" cy="1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Guests Speak Different Languages</a:t>
            </a:r>
            <a:endParaRPr lang="en-US" sz="945" dirty="0"/>
          </a:p>
        </p:txBody>
      </p:sp>
      <p:sp>
        <p:nvSpPr>
          <p:cNvPr id="22" name="Text 20"/>
          <p:cNvSpPr/>
          <p:nvPr/>
        </p:nvSpPr>
        <p:spPr>
          <a:xfrm>
            <a:off x="1035844" y="3310012"/>
            <a:ext cx="32718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Amharic, Oromo, Tigrinya, English, Arabic, Chinese — one printed menu can't serve them all.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772" y="3849365"/>
            <a:ext cx="3993356" cy="772864"/>
          </a:xfrm>
          <a:prstGeom prst="roundRect">
            <a:avLst>
              <a:gd name="adj" fmla="val 17254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7219" y="3981524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0438" y="402474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1035844" y="3981524"/>
            <a:ext cx="3271838" cy="181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Data, No Decisions</a:t>
            </a:r>
            <a:endParaRPr lang="en-US" sz="945" dirty="0"/>
          </a:p>
        </p:txBody>
      </p:sp>
      <p:sp>
        <p:nvSpPr>
          <p:cNvPr id="27" name="Text 25"/>
          <p:cNvSpPr/>
          <p:nvPr/>
        </p:nvSpPr>
        <p:spPr>
          <a:xfrm>
            <a:off x="1035844" y="4190033"/>
            <a:ext cx="32718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Which dish sells most? When are you busiest? What do customers love? Without data, you're guessing.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43488" y="2316026"/>
            <a:ext cx="3286125" cy="1259979"/>
          </a:xfrm>
          <a:prstGeom prst="roundRect">
            <a:avLst>
              <a:gd name="adj" fmla="val 10584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29238" y="2666070"/>
            <a:ext cx="2736056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5"/>
              </a:lnSpc>
              <a:buNone/>
            </a:pPr>
            <a:r>
              <a:rPr lang="en-US" sz="1575" i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if one QR code could solve all of this?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08410"/>
            <a:ext cx="8595248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Scan Changes Everything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141786" y="1708472"/>
            <a:ext cx="2860429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YeneQR turns every table into a smart touchpoint</a:t>
            </a:r>
            <a:endParaRPr lang="en-US" sz="956" dirty="0"/>
          </a:p>
        </p:txBody>
      </p:sp>
      <p:sp>
        <p:nvSpPr>
          <p:cNvPr id="4" name="Text 2"/>
          <p:cNvSpPr/>
          <p:nvPr/>
        </p:nvSpPr>
        <p:spPr>
          <a:xfrm>
            <a:off x="1343025" y="2233538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98032" y="228854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6" name="Text 4"/>
          <p:cNvSpPr/>
          <p:nvPr/>
        </p:nvSpPr>
        <p:spPr>
          <a:xfrm>
            <a:off x="1313636" y="2719313"/>
            <a:ext cx="458716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Scan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861536" y="2987204"/>
            <a:ext cx="1363028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scans QR code on their table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14563" y="22335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2857500" y="2233538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12507" y="228854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969" dirty="0"/>
          </a:p>
        </p:txBody>
      </p:sp>
      <p:sp>
        <p:nvSpPr>
          <p:cNvPr id="11" name="Text 9"/>
          <p:cNvSpPr/>
          <p:nvPr/>
        </p:nvSpPr>
        <p:spPr>
          <a:xfrm>
            <a:off x="2776648" y="2719313"/>
            <a:ext cx="56164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Browse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2376011" y="2987204"/>
            <a:ext cx="1363028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Beautiful digital menu in their language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29038" y="22335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14" name="Text 12"/>
          <p:cNvSpPr/>
          <p:nvPr/>
        </p:nvSpPr>
        <p:spPr>
          <a:xfrm>
            <a:off x="4371975" y="2233538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26982" y="228854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969" dirty="0"/>
          </a:p>
        </p:txBody>
      </p:sp>
      <p:sp>
        <p:nvSpPr>
          <p:cNvPr id="16" name="Text 14"/>
          <p:cNvSpPr/>
          <p:nvPr/>
        </p:nvSpPr>
        <p:spPr>
          <a:xfrm>
            <a:off x="4310665" y="2719313"/>
            <a:ext cx="522559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Order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3890486" y="2987204"/>
            <a:ext cx="1363028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Customize dishes, add modifiers, remove ingredients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43513" y="22335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19" name="Text 17"/>
          <p:cNvSpPr/>
          <p:nvPr/>
        </p:nvSpPr>
        <p:spPr>
          <a:xfrm>
            <a:off x="5886450" y="2233538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41457" y="228854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969" dirty="0"/>
          </a:p>
        </p:txBody>
      </p:sp>
      <p:sp>
        <p:nvSpPr>
          <p:cNvPr id="21" name="Text 19"/>
          <p:cNvSpPr/>
          <p:nvPr/>
        </p:nvSpPr>
        <p:spPr>
          <a:xfrm>
            <a:off x="5915757" y="2719313"/>
            <a:ext cx="341436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</a:t>
            </a:r>
            <a:endParaRPr lang="en-US" sz="956" dirty="0"/>
          </a:p>
        </p:txBody>
      </p:sp>
      <p:sp>
        <p:nvSpPr>
          <p:cNvPr id="22" name="Text 20"/>
          <p:cNvSpPr/>
          <p:nvPr/>
        </p:nvSpPr>
        <p:spPr>
          <a:xfrm>
            <a:off x="5443538" y="2987204"/>
            <a:ext cx="1285875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Telebirr, Chapa, CBE Birr, or Cash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57988" y="22335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4755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7400925" y="2233538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55932" y="228854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969" dirty="0"/>
          </a:p>
        </p:txBody>
      </p:sp>
      <p:sp>
        <p:nvSpPr>
          <p:cNvPr id="26" name="Text 24"/>
          <p:cNvSpPr/>
          <p:nvPr/>
        </p:nvSpPr>
        <p:spPr>
          <a:xfrm>
            <a:off x="7339615" y="2719313"/>
            <a:ext cx="522559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Enjoy</a:t>
            </a:r>
            <a:endParaRPr lang="en-US" sz="956" dirty="0"/>
          </a:p>
        </p:txBody>
      </p:sp>
      <p:sp>
        <p:nvSpPr>
          <p:cNvPr id="27" name="Text 25"/>
          <p:cNvSpPr/>
          <p:nvPr/>
        </p:nvSpPr>
        <p:spPr>
          <a:xfrm>
            <a:off x="6919436" y="2987204"/>
            <a:ext cx="1363028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tracking, games while they wait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87783" y="3615107"/>
            <a:ext cx="1486637" cy="332784"/>
          </a:xfrm>
          <a:prstGeom prst="roundRect">
            <a:avLst>
              <a:gd name="adj" fmla="val 2859355"/>
            </a:avLst>
          </a:prstGeom>
          <a:solidFill>
            <a:srgbClr val="039D55">
              <a:alpha val="15000"/>
            </a:srgbClr>
          </a:solidFill>
          <a:ln w="7144">
            <a:solidFill>
              <a:srgbClr val="039D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446400" y="3720778"/>
            <a:ext cx="9408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4C4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App Download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74950" y="37172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3643000" y="3615107"/>
            <a:ext cx="1661100" cy="332784"/>
          </a:xfrm>
          <a:prstGeom prst="roundRect">
            <a:avLst>
              <a:gd name="adj" fmla="val 2859355"/>
            </a:avLst>
          </a:prstGeom>
          <a:solidFill>
            <a:srgbClr val="039D55">
              <a:alpha val="15000"/>
            </a:srgbClr>
          </a:solidFill>
          <a:ln w="7144">
            <a:solidFill>
              <a:srgbClr val="039D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001616" y="3720778"/>
            <a:ext cx="111531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4C4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Works in 13 Languages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30166" y="37172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5372680" y="3615107"/>
            <a:ext cx="1683425" cy="332784"/>
          </a:xfrm>
          <a:prstGeom prst="roundRect">
            <a:avLst>
              <a:gd name="adj" fmla="val 2859355"/>
            </a:avLst>
          </a:prstGeom>
          <a:solidFill>
            <a:srgbClr val="039D55">
              <a:alpha val="15000"/>
            </a:srgbClr>
          </a:solidFill>
          <a:ln w="7144">
            <a:solidFill>
              <a:srgbClr val="039D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31297" y="3720778"/>
            <a:ext cx="11376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4C4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Kitchen Sync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59847" y="371720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636000" cy="333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Menu, Their Language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457200" y="822871"/>
            <a:ext cx="4857750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guest sees your menu in the language they're most comfortable with.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177156"/>
            <a:ext cx="4783410" cy="572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a customer scans the QR code on their table, they see a beautifully designed digital menu — instantly translated into their preferred language. Photos, prices in ETB, allergen warnings, dietary labels — everything they need to order with confidence.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34340" y="1866228"/>
            <a:ext cx="657404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879029"/>
            <a:ext cx="61168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🇪🇹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አማርኛ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3174" y="1866228"/>
            <a:ext cx="999076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26034" y="1879029"/>
            <a:ext cx="953356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🇪🇹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Afaan Oromoo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13679" y="1866228"/>
            <a:ext cx="628829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36539" y="1879029"/>
            <a:ext cx="583109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🇪🇹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ትግርኛ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53938" y="1866228"/>
            <a:ext cx="787331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76798" y="1879029"/>
            <a:ext cx="74161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🇸🇴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Soomaali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52698" y="1866228"/>
            <a:ext cx="642781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75558" y="1879029"/>
            <a:ext cx="59706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🇪🇹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Afaraf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910" y="1866228"/>
            <a:ext cx="926745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229770" y="1879029"/>
            <a:ext cx="88102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🇪🇹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Sidaamu Afo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4340" y="2191269"/>
            <a:ext cx="657404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2204070"/>
            <a:ext cx="61168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🇸🇦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العربية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03174" y="2191269"/>
            <a:ext cx="704731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26034" y="2204070"/>
            <a:ext cx="65901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🇬🇧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English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19335" y="2191269"/>
            <a:ext cx="699708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42195" y="2204070"/>
            <a:ext cx="65398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🇮🇹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Italiano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31723" y="2191269"/>
            <a:ext cx="583466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553333" y="2204070"/>
            <a:ext cx="540246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🇨🇳</a:t>
            </a:r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中文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3127869" y="2191269"/>
            <a:ext cx="756300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50729" y="2204070"/>
            <a:ext cx="710580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🇫🇷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Français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97706" y="2191269"/>
            <a:ext cx="560320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918458" y="2204070"/>
            <a:ext cx="51881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🇮🇳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हिन्दी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71563" y="2191269"/>
            <a:ext cx="778847" cy="293494"/>
          </a:xfrm>
          <a:prstGeom prst="roundRect">
            <a:avLst>
              <a:gd name="adj" fmla="val 3242136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94423" y="2204070"/>
            <a:ext cx="733127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🇮🇳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മലയാളം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2614836"/>
            <a:ext cx="478341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4C4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Ethiopian languages + 8 international — more than any competitor in the world.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5501357" y="1180728"/>
            <a:ext cx="3181759" cy="1692622"/>
          </a:xfrm>
          <a:prstGeom prst="roundRect">
            <a:avLst>
              <a:gd name="adj" fmla="val 9004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04954" y="1384325"/>
            <a:ext cx="2774566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customer sees</a:t>
            </a:r>
            <a:endParaRPr lang="en-US" sz="956" dirty="0"/>
          </a:p>
        </p:txBody>
      </p:sp>
      <p:sp>
        <p:nvSpPr>
          <p:cNvPr id="34" name="Text 32"/>
          <p:cNvSpPr/>
          <p:nvPr/>
        </p:nvSpPr>
        <p:spPr>
          <a:xfrm>
            <a:off x="5704954" y="1766515"/>
            <a:ext cx="42863" cy="42863"/>
          </a:xfrm>
          <a:prstGeom prst="ellipse">
            <a:avLst/>
          </a:prstGeom>
          <a:solidFill>
            <a:srgbClr val="039D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819254" y="1709365"/>
            <a:ext cx="2660266" cy="16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menu with photos and ETB prices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5704954" y="2035187"/>
            <a:ext cx="42863" cy="42863"/>
          </a:xfrm>
          <a:prstGeom prst="ellipse">
            <a:avLst/>
          </a:prstGeom>
          <a:solidFill>
            <a:srgbClr val="039D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819254" y="1978037"/>
            <a:ext cx="2660266" cy="16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Allergen warnings on every dish</a:t>
            </a:r>
            <a:endParaRPr lang="en-US" sz="810" dirty="0"/>
          </a:p>
        </p:txBody>
      </p:sp>
      <p:sp>
        <p:nvSpPr>
          <p:cNvPr id="38" name="Text 36"/>
          <p:cNvSpPr/>
          <p:nvPr/>
        </p:nvSpPr>
        <p:spPr>
          <a:xfrm>
            <a:off x="5704954" y="2303859"/>
            <a:ext cx="42863" cy="42863"/>
          </a:xfrm>
          <a:prstGeom prst="ellipse">
            <a:avLst/>
          </a:prstGeom>
          <a:solidFill>
            <a:srgbClr val="039D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819254" y="2246709"/>
            <a:ext cx="2660266" cy="16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 by Vegetarian, Spicy, Popular, or New</a:t>
            </a:r>
            <a:endParaRPr lang="en-US" sz="810" dirty="0"/>
          </a:p>
        </p:txBody>
      </p:sp>
      <p:sp>
        <p:nvSpPr>
          <p:cNvPr id="40" name="Text 38"/>
          <p:cNvSpPr/>
          <p:nvPr/>
        </p:nvSpPr>
        <p:spPr>
          <a:xfrm>
            <a:off x="5704954" y="2572531"/>
            <a:ext cx="42863" cy="42863"/>
          </a:xfrm>
          <a:prstGeom prst="ellipse">
            <a:avLst/>
          </a:prstGeom>
          <a:solidFill>
            <a:srgbClr val="039D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19254" y="2515381"/>
            <a:ext cx="2660266" cy="154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Search in any language — results appear instantly</a:t>
            </a:r>
            <a:endParaRPr lang="en-US" sz="8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3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Dish, Just the Way They Want It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457200" y="822871"/>
            <a:ext cx="5143500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 customize their order with zero confusion — no more misheard instructions.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60772" y="1209303"/>
            <a:ext cx="2650331" cy="1668847"/>
          </a:xfrm>
          <a:prstGeom prst="roundRect">
            <a:avLst>
              <a:gd name="adj" fmla="val 7991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5794" y="137003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2943" y="141718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1092994" y="1370037"/>
            <a:ext cx="18430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Remove Ingredients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994" y="1584350"/>
            <a:ext cx="1843088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 any ingredient to remove it — no onions, no peanuts, no problem. Kitchen sees it clearly.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46834" y="1209303"/>
            <a:ext cx="2650331" cy="1668847"/>
          </a:xfrm>
          <a:prstGeom prst="roundRect">
            <a:avLst>
              <a:gd name="adj" fmla="val 7991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1856" y="137003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69005" y="141718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3879056" y="1370037"/>
            <a:ext cx="18430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Choose Modifiers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79056" y="1584350"/>
            <a:ext cx="1843088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Spice level (Mild to Extreme), doneness (Rare to Well Done), serving size — all with clear visual selectors.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32897" y="1209303"/>
            <a:ext cx="2650331" cy="1668847"/>
          </a:xfrm>
          <a:prstGeom prst="roundRect">
            <a:avLst>
              <a:gd name="adj" fmla="val 7991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07919" y="137003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55068" y="141718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6665119" y="1370037"/>
            <a:ext cx="184308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Special Instructions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65119" y="1584350"/>
            <a:ext cx="1843088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Free-text note for anything custom — 'extra sauce on the side', 'no cilantro please'.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772" y="3013881"/>
            <a:ext cx="2650331" cy="1668847"/>
          </a:xfrm>
          <a:prstGeom prst="roundRect">
            <a:avLst>
              <a:gd name="adj" fmla="val 7991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5794" y="317461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2943" y="322176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1092994" y="3174616"/>
            <a:ext cx="18430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Combo Meals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2994" y="3388928"/>
            <a:ext cx="1843088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Pre-bundled combos with savings shown — 'Includes 3 items • You save 50 ETB'.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46834" y="3013881"/>
            <a:ext cx="2650331" cy="1668847"/>
          </a:xfrm>
          <a:prstGeom prst="roundRect">
            <a:avLst>
              <a:gd name="adj" fmla="val 7991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21856" y="317461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69005" y="322176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3879056" y="3174616"/>
            <a:ext cx="18430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Loyalty Points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79056" y="3388928"/>
            <a:ext cx="1843088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Earn points on every order. Redeem for discounts. Customers keep coming back.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32897" y="3013881"/>
            <a:ext cx="2650331" cy="1668847"/>
          </a:xfrm>
          <a:prstGeom prst="roundRect">
            <a:avLst>
              <a:gd name="adj" fmla="val 7991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07919" y="317461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55068" y="322176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2" name="Text 30"/>
          <p:cNvSpPr/>
          <p:nvPr/>
        </p:nvSpPr>
        <p:spPr>
          <a:xfrm>
            <a:off x="6665119" y="3174616"/>
            <a:ext cx="184308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Coupons &amp; Deals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65119" y="3388928"/>
            <a:ext cx="1843088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Apply promo codes, unlock happy hour pricing, get combo discounts — right in the cart.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01" kern="0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EXPERIENCE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4363"/>
            <a:ext cx="8636000" cy="323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 the Ethiopian Way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965746"/>
            <a:ext cx="5143500" cy="19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customers pay how they actually pay in Ethiopia — no foreign payment systems.</a:t>
            </a:r>
            <a:endParaRPr lang="en-US" sz="945" dirty="0"/>
          </a:p>
        </p:txBody>
      </p:sp>
      <p:sp>
        <p:nvSpPr>
          <p:cNvPr id="5" name="Text 3"/>
          <p:cNvSpPr/>
          <p:nvPr/>
        </p:nvSpPr>
        <p:spPr>
          <a:xfrm>
            <a:off x="460772" y="1320701"/>
            <a:ext cx="3993356" cy="621506"/>
          </a:xfrm>
          <a:prstGeom prst="roundRect">
            <a:avLst>
              <a:gd name="adj" fmla="val 24521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506" y="1460004"/>
            <a:ext cx="285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1556" y="1452860"/>
            <a:ext cx="3130106" cy="17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Telebirr</a:t>
            </a:r>
            <a:endParaRPr lang="en-US" sz="990" dirty="0"/>
          </a:p>
        </p:txBody>
      </p:sp>
      <p:sp>
        <p:nvSpPr>
          <p:cNvPr id="8" name="Text 6"/>
          <p:cNvSpPr/>
          <p:nvPr/>
        </p:nvSpPr>
        <p:spPr>
          <a:xfrm>
            <a:off x="1021556" y="1655676"/>
            <a:ext cx="2445395" cy="154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Ethiopia's most popular mobile payment. 40M+ users.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460772" y="2049363"/>
            <a:ext cx="3993356" cy="621506"/>
          </a:xfrm>
          <a:prstGeom prst="roundRect">
            <a:avLst>
              <a:gd name="adj" fmla="val 24521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506" y="2188666"/>
            <a:ext cx="285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💳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1556" y="2181523"/>
            <a:ext cx="3271838" cy="17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Chapa</a:t>
            </a:r>
            <a:endParaRPr lang="en-US" sz="990" dirty="0"/>
          </a:p>
        </p:txBody>
      </p:sp>
      <p:sp>
        <p:nvSpPr>
          <p:cNvPr id="12" name="Text 10"/>
          <p:cNvSpPr/>
          <p:nvPr/>
        </p:nvSpPr>
        <p:spPr>
          <a:xfrm>
            <a:off x="1021556" y="2384338"/>
            <a:ext cx="2341252" cy="154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Leading online payment gateway. Fast and reliable.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460772" y="2778026"/>
            <a:ext cx="3993356" cy="621506"/>
          </a:xfrm>
          <a:prstGeom prst="roundRect">
            <a:avLst>
              <a:gd name="adj" fmla="val 24521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506" y="2917329"/>
            <a:ext cx="285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1556" y="2910185"/>
            <a:ext cx="2896219" cy="17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CBE Birr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1021556" y="3113001"/>
            <a:ext cx="2262671" cy="154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Commercial Bank of Ethiopia. Trusted by millions.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460772" y="3506688"/>
            <a:ext cx="3993356" cy="621506"/>
          </a:xfrm>
          <a:prstGeom prst="roundRect">
            <a:avLst>
              <a:gd name="adj" fmla="val 24521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1506" y="3645991"/>
            <a:ext cx="285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1556" y="3638848"/>
            <a:ext cx="3271838" cy="17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Cash</a:t>
            </a:r>
            <a:endParaRPr lang="en-US" sz="990" dirty="0"/>
          </a:p>
        </p:txBody>
      </p:sp>
      <p:sp>
        <p:nvSpPr>
          <p:cNvPr id="20" name="Text 18"/>
          <p:cNvSpPr/>
          <p:nvPr/>
        </p:nvSpPr>
        <p:spPr>
          <a:xfrm>
            <a:off x="1021556" y="3841663"/>
            <a:ext cx="2411136" cy="154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Always available. Pay at the counter when ready.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4686300" y="1317129"/>
            <a:ext cx="4200525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the Bill, Simply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86300" y="1631454"/>
            <a:ext cx="4000500" cy="17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85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Friends dining together? No more awkward math at the end of the meal.</a:t>
            </a:r>
            <a:endParaRPr lang="en-US" sz="855" dirty="0"/>
          </a:p>
        </p:txBody>
      </p:sp>
      <p:sp>
        <p:nvSpPr>
          <p:cNvPr id="23" name="Text 21"/>
          <p:cNvSpPr/>
          <p:nvPr/>
        </p:nvSpPr>
        <p:spPr>
          <a:xfrm>
            <a:off x="4689872" y="1940756"/>
            <a:ext cx="1950244" cy="759916"/>
          </a:xfrm>
          <a:prstGeom prst="roundRect">
            <a:avLst>
              <a:gd name="adj" fmla="val 2005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36319" y="208005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547" dirty="0"/>
          </a:p>
        </p:txBody>
      </p:sp>
      <p:sp>
        <p:nvSpPr>
          <p:cNvPr id="25" name="Text 23"/>
          <p:cNvSpPr/>
          <p:nvPr/>
        </p:nvSpPr>
        <p:spPr>
          <a:xfrm>
            <a:off x="5064919" y="2072915"/>
            <a:ext cx="14287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Equal Split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36319" y="2287228"/>
            <a:ext cx="1657350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Divide the total equally among everyone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32984" y="1940756"/>
            <a:ext cx="1950244" cy="759916"/>
          </a:xfrm>
          <a:prstGeom prst="roundRect">
            <a:avLst>
              <a:gd name="adj" fmla="val 2005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79431" y="208005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7108031" y="2072915"/>
            <a:ext cx="14287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 Items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79431" y="2287228"/>
            <a:ext cx="1657350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person pays for what they ordered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89872" y="2793541"/>
            <a:ext cx="1950244" cy="759916"/>
          </a:xfrm>
          <a:prstGeom prst="roundRect">
            <a:avLst>
              <a:gd name="adj" fmla="val 2005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36319" y="293284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547" dirty="0"/>
          </a:p>
        </p:txBody>
      </p:sp>
      <p:sp>
        <p:nvSpPr>
          <p:cNvPr id="33" name="Text 31"/>
          <p:cNvSpPr/>
          <p:nvPr/>
        </p:nvSpPr>
        <p:spPr>
          <a:xfrm>
            <a:off x="5064919" y="2925700"/>
            <a:ext cx="14287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Amount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36319" y="3140013"/>
            <a:ext cx="1657350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 exactly how much each person pays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32984" y="2793541"/>
            <a:ext cx="1950244" cy="759916"/>
          </a:xfrm>
          <a:prstGeom prst="roundRect">
            <a:avLst>
              <a:gd name="adj" fmla="val 2005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79431" y="300316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7" name="Text 35"/>
          <p:cNvSpPr/>
          <p:nvPr/>
        </p:nvSpPr>
        <p:spPr>
          <a:xfrm>
            <a:off x="7108031" y="2996022"/>
            <a:ext cx="14287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Percentage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79431" y="3210334"/>
            <a:ext cx="1756791" cy="164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by any percentage you choose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89872" y="3674901"/>
            <a:ext cx="3993356" cy="508769"/>
          </a:xfrm>
          <a:prstGeom prst="roundRect">
            <a:avLst>
              <a:gd name="adj" fmla="val 22466"/>
            </a:avLst>
          </a:prstGeom>
          <a:solidFill>
            <a:srgbClr val="039D55">
              <a:alpha val="8000"/>
            </a:srgbClr>
          </a:solidFill>
          <a:ln w="7144">
            <a:solidFill>
              <a:srgbClr val="039D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36319" y="3778486"/>
            <a:ext cx="3700463" cy="3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Payment happens after you eat — the Ethiopian way. Or require upfront payment if you prefer.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01" kern="0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EXPERIENCE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4363"/>
            <a:ext cx="8229600" cy="323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Turn Wait Time into Play Time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965746"/>
            <a:ext cx="5715000" cy="19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other restaurant platform in the world offers built-in entertainment. Your customers will love it.</a:t>
            </a:r>
            <a:endParaRPr lang="en-US" sz="945" dirty="0"/>
          </a:p>
        </p:txBody>
      </p:sp>
      <p:sp>
        <p:nvSpPr>
          <p:cNvPr id="5" name="Text 3"/>
          <p:cNvSpPr/>
          <p:nvPr/>
        </p:nvSpPr>
        <p:spPr>
          <a:xfrm>
            <a:off x="460772" y="1306413"/>
            <a:ext cx="2150938" cy="1657350"/>
          </a:xfrm>
          <a:prstGeom prst="roundRect">
            <a:avLst>
              <a:gd name="adj" fmla="val 919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506" y="1659248"/>
            <a:ext cx="182947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🐍</a:t>
            </a:r>
            <a:endParaRPr lang="en-US" sz="1980" dirty="0"/>
          </a:p>
        </p:txBody>
      </p:sp>
      <p:sp>
        <p:nvSpPr>
          <p:cNvPr id="7" name="Text 5"/>
          <p:cNvSpPr/>
          <p:nvPr/>
        </p:nvSpPr>
        <p:spPr>
          <a:xfrm>
            <a:off x="621506" y="2093565"/>
            <a:ext cx="1829470" cy="198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03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Snake</a:t>
            </a:r>
            <a:endParaRPr lang="en-US" sz="1035" dirty="0"/>
          </a:p>
        </p:txBody>
      </p:sp>
      <p:sp>
        <p:nvSpPr>
          <p:cNvPr id="8" name="Text 6"/>
          <p:cNvSpPr/>
          <p:nvPr/>
        </p:nvSpPr>
        <p:spPr>
          <a:xfrm>
            <a:off x="621506" y="2319375"/>
            <a:ext cx="1829470" cy="31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Classic game with food emojis and progressive speed. Beat your high score!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18867" y="1306413"/>
            <a:ext cx="2150938" cy="1657350"/>
          </a:xfrm>
          <a:prstGeom prst="roundRect">
            <a:avLst>
              <a:gd name="adj" fmla="val 919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79601" y="1659248"/>
            <a:ext cx="182947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endParaRPr lang="en-US" sz="1980" dirty="0"/>
          </a:p>
        </p:txBody>
      </p:sp>
      <p:sp>
        <p:nvSpPr>
          <p:cNvPr id="11" name="Text 9"/>
          <p:cNvSpPr/>
          <p:nvPr/>
        </p:nvSpPr>
        <p:spPr>
          <a:xfrm>
            <a:off x="2879601" y="2093565"/>
            <a:ext cx="1829470" cy="198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035" b="1" dirty="0">
                <a:solidFill>
                  <a:srgbClr val="F0F4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2048</a:t>
            </a:r>
            <a:endParaRPr lang="en-US" sz="1035" dirty="0"/>
          </a:p>
        </p:txBody>
      </p:sp>
      <p:sp>
        <p:nvSpPr>
          <p:cNvPr id="12" name="Text 10"/>
          <p:cNvSpPr/>
          <p:nvPr/>
        </p:nvSpPr>
        <p:spPr>
          <a:xfrm>
            <a:off x="2879601" y="2319375"/>
            <a:ext cx="1829470" cy="31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Slide and merge numbers. Addictive and satisfying.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0772" y="3070920"/>
            <a:ext cx="2150938" cy="1657350"/>
          </a:xfrm>
          <a:prstGeom prst="roundRect">
            <a:avLst>
              <a:gd name="adj" fmla="val 919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506" y="3423754"/>
            <a:ext cx="182947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🃏</a:t>
            </a:r>
            <a:endParaRPr lang="en-US" sz="1980" dirty="0"/>
          </a:p>
        </p:txBody>
      </p:sp>
      <p:sp>
        <p:nvSpPr>
          <p:cNvPr id="15" name="Text 13"/>
          <p:cNvSpPr/>
          <p:nvPr/>
        </p:nvSpPr>
        <p:spPr>
          <a:xfrm>
            <a:off x="621506" y="3858071"/>
            <a:ext cx="1829470" cy="198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03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Memory Match</a:t>
            </a:r>
            <a:endParaRPr lang="en-US" sz="1035" dirty="0"/>
          </a:p>
        </p:txBody>
      </p:sp>
      <p:sp>
        <p:nvSpPr>
          <p:cNvPr id="16" name="Text 14"/>
          <p:cNvSpPr/>
          <p:nvPr/>
        </p:nvSpPr>
        <p:spPr>
          <a:xfrm>
            <a:off x="621506" y="4083881"/>
            <a:ext cx="1829470" cy="31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Flip cards to find pairs. Easy, Medium, and Hard modes.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18867" y="3070920"/>
            <a:ext cx="2150938" cy="1657350"/>
          </a:xfrm>
          <a:prstGeom prst="roundRect">
            <a:avLst>
              <a:gd name="adj" fmla="val 919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79601" y="3423754"/>
            <a:ext cx="182947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🧠</a:t>
            </a:r>
            <a:endParaRPr lang="en-US" sz="1980" dirty="0"/>
          </a:p>
        </p:txBody>
      </p:sp>
      <p:sp>
        <p:nvSpPr>
          <p:cNvPr id="19" name="Text 17"/>
          <p:cNvSpPr/>
          <p:nvPr/>
        </p:nvSpPr>
        <p:spPr>
          <a:xfrm>
            <a:off x="2879601" y="3858071"/>
            <a:ext cx="1829470" cy="198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03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Ethiopian Trivia</a:t>
            </a:r>
            <a:endParaRPr lang="en-US" sz="1035" dirty="0"/>
          </a:p>
        </p:txBody>
      </p:sp>
      <p:sp>
        <p:nvSpPr>
          <p:cNvPr id="20" name="Text 18"/>
          <p:cNvSpPr/>
          <p:nvPr/>
        </p:nvSpPr>
        <p:spPr>
          <a:xfrm>
            <a:off x="2879601" y="4083881"/>
            <a:ext cx="1829470" cy="31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Food, culture, and history questions. Learn something new while you wait!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6974" y="1306413"/>
            <a:ext cx="3606254" cy="2884736"/>
          </a:xfrm>
          <a:prstGeom prst="roundRect">
            <a:avLst>
              <a:gd name="adj" fmla="val 5283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66283" y="1495723"/>
            <a:ext cx="3227636" cy="24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21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More Than Games</a:t>
            </a:r>
            <a:endParaRPr lang="en-US" sz="1215" dirty="0"/>
          </a:p>
        </p:txBody>
      </p:sp>
      <p:sp>
        <p:nvSpPr>
          <p:cNvPr id="23" name="Text 21"/>
          <p:cNvSpPr/>
          <p:nvPr/>
        </p:nvSpPr>
        <p:spPr>
          <a:xfrm>
            <a:off x="5266283" y="1884276"/>
            <a:ext cx="228600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📚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5594896" y="1869988"/>
            <a:ext cx="2899023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Ethiopian Food Facts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94896" y="2062869"/>
            <a:ext cx="2899023" cy="30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Did you know? Coffee was discovered in Ethiopia around 850 AD!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66283" y="2487253"/>
            <a:ext cx="228600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📖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5594896" y="2472965"/>
            <a:ext cx="2647362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Cultural Stories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94896" y="2665847"/>
            <a:ext cx="2521297" cy="15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Restaurant-customized stories about Ethiopian traditions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66283" y="2949476"/>
            <a:ext cx="228600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📰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5594896" y="2935188"/>
            <a:ext cx="2725764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Curated Reads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94896" y="3128070"/>
            <a:ext cx="2325737" cy="15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Articles and content the restaurant chooses to share</a:t>
            </a:r>
            <a:endParaRPr lang="en-US" sz="8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3402" y="4309021"/>
            <a:ext cx="3613398" cy="422821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076974" y="4312593"/>
            <a:ext cx="3606254" cy="415677"/>
          </a:xfrm>
          <a:prstGeom prst="roundRect">
            <a:avLst>
              <a:gd name="adj" fmla="val 32080"/>
            </a:avLst>
          </a:prstGeom>
          <a:noFill/>
          <a:ln w="7144">
            <a:solidFill>
              <a:srgbClr val="039D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251996" y="4430464"/>
            <a:ext cx="336593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8"/>
              </a:lnSpc>
              <a:buNone/>
            </a:pPr>
            <a:r>
              <a:rPr lang="en-US" sz="945" b="1" spc="19" kern="0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✨ Exclusive Feature — No Competitor Offers This</a:t>
            </a:r>
            <a:endParaRPr lang="en-US" sz="94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01" kern="0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KITCHEN OPERATIONS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85788"/>
            <a:ext cx="8229600" cy="30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2"/>
              </a:lnSpc>
              <a:buNone/>
            </a:pPr>
            <a:r>
              <a:rPr lang="en-US" sz="193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Kitchen Never Misses an Order</a:t>
            </a:r>
            <a:endParaRPr lang="en-US" sz="1935" dirty="0"/>
          </a:p>
        </p:txBody>
      </p:sp>
      <p:sp>
        <p:nvSpPr>
          <p:cNvPr id="4" name="Text 2"/>
          <p:cNvSpPr/>
          <p:nvPr/>
        </p:nvSpPr>
        <p:spPr>
          <a:xfrm>
            <a:off x="457200" y="916409"/>
            <a:ext cx="557212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moment a customer places an order, your kitchen sees it. No running back and forth, no forgotten tickets.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16447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3276" y="125252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547" dirty="0"/>
          </a:p>
        </p:txBody>
      </p:sp>
      <p:sp>
        <p:nvSpPr>
          <p:cNvPr id="7" name="Text 5"/>
          <p:cNvSpPr/>
          <p:nvPr/>
        </p:nvSpPr>
        <p:spPr>
          <a:xfrm>
            <a:off x="857250" y="1216447"/>
            <a:ext cx="379547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Kitchen Display Screen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7250" y="1387897"/>
            <a:ext cx="3614738" cy="307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live screen shows every active order with items, modifiers, and removed ingredients clearly highlighted. No paper tickets.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731243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3276" y="176731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857250" y="1731243"/>
            <a:ext cx="379547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 Station Routing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7250" y="1902693"/>
            <a:ext cx="3614738" cy="307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Orders automatically sort to the right station — Grill, Wot, Bar, Salad, Dessert. Each chef sees only their items.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246040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3276" y="228211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857250" y="2246040"/>
            <a:ext cx="379547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Color-Coded Timers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2417490"/>
            <a:ext cx="3614738" cy="307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Green (&lt;10 min) → Yellow (10-20 min) → Red (20+ min and counting). Never lose track of a long-wait order.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760836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3276" y="279691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857250" y="2760836"/>
            <a:ext cx="423647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Sound Alerts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7250" y="2932286"/>
            <a:ext cx="3614738" cy="307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Hear it when a new order arrives. Hear it when an order is overdue. Never miss a beat.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275633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3276" y="331170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1547" dirty="0"/>
          </a:p>
        </p:txBody>
      </p:sp>
      <p:sp>
        <p:nvSpPr>
          <p:cNvPr id="23" name="Text 21"/>
          <p:cNvSpPr/>
          <p:nvPr/>
        </p:nvSpPr>
        <p:spPr>
          <a:xfrm>
            <a:off x="857250" y="3275633"/>
            <a:ext cx="379547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Priority Badges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7250" y="3447083"/>
            <a:ext cx="3614738" cy="307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Normal, Rush (red), and VIP (purple) orders — your kitchen knows what to cook first.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75584" y="1220019"/>
            <a:ext cx="4007644" cy="3487489"/>
          </a:xfrm>
          <a:prstGeom prst="roundRect">
            <a:avLst>
              <a:gd name="adj" fmla="val 4370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0606" y="1395040"/>
            <a:ext cx="3657600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17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Status Flow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4850606" y="1760711"/>
            <a:ext cx="257175" cy="257175"/>
          </a:xfrm>
          <a:prstGeom prst="ellipse">
            <a:avLst/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75609" y="178571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5164931" y="1807815"/>
            <a:ext cx="3343275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855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Orders</a:t>
            </a:r>
            <a:endParaRPr lang="en-US" sz="855" dirty="0"/>
          </a:p>
        </p:txBody>
      </p:sp>
      <p:sp>
        <p:nvSpPr>
          <p:cNvPr id="30" name="Text 28"/>
          <p:cNvSpPr/>
          <p:nvPr/>
        </p:nvSpPr>
        <p:spPr>
          <a:xfrm>
            <a:off x="6615113" y="21321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4850606" y="2389361"/>
            <a:ext cx="257175" cy="257175"/>
          </a:xfrm>
          <a:prstGeom prst="ellipse">
            <a:avLst/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75609" y="241436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406" dirty="0"/>
          </a:p>
        </p:txBody>
      </p:sp>
      <p:sp>
        <p:nvSpPr>
          <p:cNvPr id="33" name="Text 31"/>
          <p:cNvSpPr/>
          <p:nvPr/>
        </p:nvSpPr>
        <p:spPr>
          <a:xfrm>
            <a:off x="5164931" y="2436465"/>
            <a:ext cx="3343275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855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Kitchen Sees It Instantly</a:t>
            </a:r>
            <a:endParaRPr lang="en-US" sz="855" dirty="0"/>
          </a:p>
        </p:txBody>
      </p:sp>
      <p:sp>
        <p:nvSpPr>
          <p:cNvPr id="34" name="Text 32"/>
          <p:cNvSpPr/>
          <p:nvPr/>
        </p:nvSpPr>
        <p:spPr>
          <a:xfrm>
            <a:off x="6615113" y="27608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4850606" y="3018011"/>
            <a:ext cx="257175" cy="257175"/>
          </a:xfrm>
          <a:prstGeom prst="ellipse">
            <a:avLst/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75609" y="304301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7" name="Text 35"/>
          <p:cNvSpPr/>
          <p:nvPr/>
        </p:nvSpPr>
        <p:spPr>
          <a:xfrm>
            <a:off x="5164931" y="3065115"/>
            <a:ext cx="3343275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855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Chef Starts Cooking</a:t>
            </a:r>
            <a:endParaRPr lang="en-US" sz="855" dirty="0"/>
          </a:p>
        </p:txBody>
      </p:sp>
      <p:sp>
        <p:nvSpPr>
          <p:cNvPr id="38" name="Text 36"/>
          <p:cNvSpPr/>
          <p:nvPr/>
        </p:nvSpPr>
        <p:spPr>
          <a:xfrm>
            <a:off x="6615113" y="33894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4850606" y="3646661"/>
            <a:ext cx="257175" cy="257175"/>
          </a:xfrm>
          <a:prstGeom prst="ellipse">
            <a:avLst/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75609" y="367166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41" name="Text 39"/>
          <p:cNvSpPr/>
          <p:nvPr/>
        </p:nvSpPr>
        <p:spPr>
          <a:xfrm>
            <a:off x="5164931" y="3693765"/>
            <a:ext cx="3343275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855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Marks Item Ready</a:t>
            </a:r>
            <a:endParaRPr lang="en-US" sz="855" dirty="0"/>
          </a:p>
        </p:txBody>
      </p:sp>
      <p:sp>
        <p:nvSpPr>
          <p:cNvPr id="42" name="Text 40"/>
          <p:cNvSpPr/>
          <p:nvPr/>
        </p:nvSpPr>
        <p:spPr>
          <a:xfrm>
            <a:off x="6615113" y="40181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66" dirty="0"/>
          </a:p>
        </p:txBody>
      </p:sp>
      <p:sp>
        <p:nvSpPr>
          <p:cNvPr id="43" name="Text 41"/>
          <p:cNvSpPr/>
          <p:nvPr/>
        </p:nvSpPr>
        <p:spPr>
          <a:xfrm>
            <a:off x="4850606" y="4275311"/>
            <a:ext cx="257175" cy="257175"/>
          </a:xfrm>
          <a:prstGeom prst="ellipse">
            <a:avLst/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75609" y="430031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406" dirty="0"/>
          </a:p>
        </p:txBody>
      </p:sp>
      <p:sp>
        <p:nvSpPr>
          <p:cNvPr id="45" name="Text 43"/>
          <p:cNvSpPr/>
          <p:nvPr/>
        </p:nvSpPr>
        <p:spPr>
          <a:xfrm>
            <a:off x="5164931" y="4322415"/>
            <a:ext cx="3343275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855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Waiter Picks Up → Customer Gets Served</a:t>
            </a:r>
            <a:endParaRPr lang="en-US" sz="855" dirty="0"/>
          </a:p>
        </p:txBody>
      </p:sp>
      <p:sp>
        <p:nvSpPr>
          <p:cNvPr id="46" name="Text 44"/>
          <p:cNvSpPr/>
          <p:nvPr/>
        </p:nvSpPr>
        <p:spPr>
          <a:xfrm>
            <a:off x="4675584" y="4828952"/>
            <a:ext cx="4007644" cy="324371"/>
          </a:xfrm>
          <a:prstGeom prst="roundRect">
            <a:avLst>
              <a:gd name="adj" fmla="val 35237"/>
            </a:avLst>
          </a:prstGeom>
          <a:solidFill>
            <a:srgbClr val="039D55">
              <a:alpha val="8000"/>
            </a:srgbClr>
          </a:solidFill>
          <a:ln w="7144">
            <a:solidFill>
              <a:srgbClr val="039D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22031" y="4918249"/>
            <a:ext cx="3714750" cy="145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Also works in </a:t>
            </a:r>
            <a:pPr algn="l" indent="0" marL="0">
              <a:lnSpc>
                <a:spcPts val="1148"/>
              </a:lnSpc>
              <a:buNone/>
            </a:pPr>
            <a:r>
              <a:rPr lang="en-US" sz="800" b="1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Fullscreen KDS Mode</a:t>
            </a:r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perfect for a dedicated kitchen monitor.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14325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01" kern="0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OWNER DASHBOARD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485775"/>
            <a:ext cx="8636000" cy="264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Restaurant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8625" y="777218"/>
            <a:ext cx="8286750" cy="17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85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Everything you need to run your restaurant — on one screen, updating in real-time.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432197" y="1015082"/>
            <a:ext cx="1989534" cy="806574"/>
          </a:xfrm>
          <a:prstGeom prst="roundRect">
            <a:avLst>
              <a:gd name="adj" fmla="val 1889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8644" y="1132954"/>
            <a:ext cx="1696641" cy="149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53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TODAY'S REVENUE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78644" y="1309539"/>
            <a:ext cx="1696641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4C0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12,450 ETB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8644" y="1566714"/>
            <a:ext cx="169664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039D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↑ 18% vs yesterday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28888" y="1015082"/>
            <a:ext cx="1989534" cy="806574"/>
          </a:xfrm>
          <a:prstGeom prst="roundRect">
            <a:avLst>
              <a:gd name="adj" fmla="val 1889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75334" y="1132954"/>
            <a:ext cx="1696641" cy="149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53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ORDERS TODAY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75334" y="1309539"/>
            <a:ext cx="1696641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4C0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75334" y="1566714"/>
            <a:ext cx="169664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active right now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25578" y="1015082"/>
            <a:ext cx="1989534" cy="806574"/>
          </a:xfrm>
          <a:prstGeom prst="roundRect">
            <a:avLst>
              <a:gd name="adj" fmla="val 1889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2025" y="1132954"/>
            <a:ext cx="1696641" cy="149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53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TABLES OCCUPIED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72025" y="1309539"/>
            <a:ext cx="169664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4C0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14/20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72025" y="1581001"/>
            <a:ext cx="1696641" cy="57150"/>
          </a:xfrm>
          <a:prstGeom prst="roundRect">
            <a:avLst>
              <a:gd name="adj" fmla="val 66667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025" y="1581001"/>
            <a:ext cx="1187648" cy="571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722269" y="1015082"/>
            <a:ext cx="1989534" cy="806574"/>
          </a:xfrm>
          <a:prstGeom prst="roundRect">
            <a:avLst>
              <a:gd name="adj" fmla="val 1889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868716" y="1132954"/>
            <a:ext cx="1696641" cy="149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53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RATING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68716" y="1309539"/>
            <a:ext cx="1696641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4C06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4.6 ⭐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68716" y="1566714"/>
            <a:ext cx="169664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from 23 reviews today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32197" y="1928813"/>
            <a:ext cx="2697882" cy="719733"/>
          </a:xfrm>
          <a:prstGeom prst="roundRect">
            <a:avLst>
              <a:gd name="adj" fmla="val 2117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78644" y="2060972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14720" y="209704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25" name="Text 22"/>
          <p:cNvSpPr/>
          <p:nvPr/>
        </p:nvSpPr>
        <p:spPr>
          <a:xfrm>
            <a:off x="978694" y="2060972"/>
            <a:ext cx="2004938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Revenue Trends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78694" y="2253853"/>
            <a:ext cx="2004938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daily, weekly, and monthly revenue. Know your best and worst days at a glance.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222947" y="1928813"/>
            <a:ext cx="2697993" cy="719733"/>
          </a:xfrm>
          <a:prstGeom prst="roundRect">
            <a:avLst>
              <a:gd name="adj" fmla="val 2117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369394" y="2060972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405470" y="209704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0" name="Text 27"/>
          <p:cNvSpPr/>
          <p:nvPr/>
        </p:nvSpPr>
        <p:spPr>
          <a:xfrm>
            <a:off x="3769444" y="2060972"/>
            <a:ext cx="2005050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Peak Hours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769444" y="2253853"/>
            <a:ext cx="200505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 exactly when your restaurant is busiest — and staff accordingly.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013810" y="1928813"/>
            <a:ext cx="2697882" cy="719733"/>
          </a:xfrm>
          <a:prstGeom prst="roundRect">
            <a:avLst>
              <a:gd name="adj" fmla="val 2117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160257" y="2060972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196332" y="209704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547" dirty="0"/>
          </a:p>
        </p:txBody>
      </p:sp>
      <p:sp>
        <p:nvSpPr>
          <p:cNvPr id="35" name="Text 32"/>
          <p:cNvSpPr/>
          <p:nvPr/>
        </p:nvSpPr>
        <p:spPr>
          <a:xfrm>
            <a:off x="6560307" y="2060972"/>
            <a:ext cx="2004938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Popular Items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560307" y="2253853"/>
            <a:ext cx="2004938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 which dishes bring in the most revenue and which ones to consider replacing.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32197" y="2741414"/>
            <a:ext cx="2697882" cy="719733"/>
          </a:xfrm>
          <a:prstGeom prst="roundRect">
            <a:avLst>
              <a:gd name="adj" fmla="val 2117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78644" y="2873573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14720" y="290964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547" dirty="0"/>
          </a:p>
        </p:txBody>
      </p:sp>
      <p:sp>
        <p:nvSpPr>
          <p:cNvPr id="40" name="Text 37"/>
          <p:cNvSpPr/>
          <p:nvPr/>
        </p:nvSpPr>
        <p:spPr>
          <a:xfrm>
            <a:off x="978694" y="2873573"/>
            <a:ext cx="2004938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Multi-Branch View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978694" y="3066455"/>
            <a:ext cx="2004938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Bole vs CMC vs Bole 2 — which branch is performing best?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222947" y="2741414"/>
            <a:ext cx="2697993" cy="719733"/>
          </a:xfrm>
          <a:prstGeom prst="roundRect">
            <a:avLst>
              <a:gd name="adj" fmla="val 2117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3369394" y="2873573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405470" y="290964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5" name="Text 42"/>
          <p:cNvSpPr/>
          <p:nvPr/>
        </p:nvSpPr>
        <p:spPr>
          <a:xfrm>
            <a:off x="3769444" y="2873573"/>
            <a:ext cx="2005050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to Excel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3769444" y="3066455"/>
            <a:ext cx="200505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Download any report as CSV or Excel for your accountant or business partner.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013810" y="2741414"/>
            <a:ext cx="2697882" cy="719733"/>
          </a:xfrm>
          <a:prstGeom prst="roundRect">
            <a:avLst>
              <a:gd name="adj" fmla="val 21175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160257" y="2873573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196332" y="290964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50" name="Text 47"/>
          <p:cNvSpPr/>
          <p:nvPr/>
        </p:nvSpPr>
        <p:spPr>
          <a:xfrm>
            <a:off x="6560307" y="2873573"/>
            <a:ext cx="2004938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Insights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560307" y="3066455"/>
            <a:ext cx="2004938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how many are repeat customers, average order value, and satisfaction scores.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01" kern="0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OWNER INTELLIGENCE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85788"/>
            <a:ext cx="8229600" cy="30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2"/>
              </a:lnSpc>
              <a:buNone/>
            </a:pPr>
            <a:r>
              <a:rPr lang="en-US" sz="193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Assistants That Actually Help</a:t>
            </a:r>
            <a:endParaRPr lang="en-US" sz="1935" dirty="0"/>
          </a:p>
        </p:txBody>
      </p:sp>
      <p:sp>
        <p:nvSpPr>
          <p:cNvPr id="4" name="Text 2"/>
          <p:cNvSpPr/>
          <p:nvPr/>
        </p:nvSpPr>
        <p:spPr>
          <a:xfrm>
            <a:off x="457200" y="916409"/>
            <a:ext cx="585787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a chatbot — four specialized AI agents that understand your restaurant and give you real, actionable advice.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0772" y="1220019"/>
            <a:ext cx="4050506" cy="1757363"/>
          </a:xfrm>
          <a:prstGeom prst="roundRect">
            <a:avLst>
              <a:gd name="adj" fmla="val 8672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5794" y="1380753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5799" y="142075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1064419" y="1442145"/>
            <a:ext cx="3271838" cy="222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Advisor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35794" y="1780803"/>
            <a:ext cx="3810191" cy="15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Sees your sales data and tells you what to do.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5794" y="1983730"/>
            <a:ext cx="3700463" cy="311226"/>
          </a:xfrm>
          <a:prstGeom prst="rect">
            <a:avLst/>
          </a:prstGeom>
          <a:noFill/>
          <a:ln/>
        </p:spPr>
        <p:txBody>
          <a:bodyPr wrap="square" lIns="85725" tIns="0" rIns="0" bIns="0" rtlCol="0" anchor="t">
            <a:normAutofit/>
          </a:bodyPr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i="1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"Your Shiro has the best profit margin but Doro Wot sells the most — run a Shiro happy hour on slow Tuesdays."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5794" y="2322388"/>
            <a:ext cx="3700463" cy="1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Answers questions about revenue, trends, and opportunities.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32722" y="1220019"/>
            <a:ext cx="4050506" cy="1757363"/>
          </a:xfrm>
          <a:prstGeom prst="roundRect">
            <a:avLst>
              <a:gd name="adj" fmla="val 8672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7744" y="1380753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47749" y="142075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5236369" y="1442145"/>
            <a:ext cx="3271838" cy="222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Kitchen Assistant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807744" y="1780803"/>
            <a:ext cx="3700463" cy="15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Watches your order queue and suggests what to cook first.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7744" y="1983730"/>
            <a:ext cx="3700463" cy="158969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i="1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"3 orders need Shiro — cook one big batch instead of 3 separate portions."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07744" y="2181634"/>
            <a:ext cx="3810190" cy="1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Flags low stock before you run out.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772" y="3098825"/>
            <a:ext cx="4050506" cy="1757363"/>
          </a:xfrm>
          <a:prstGeom prst="roundRect">
            <a:avLst>
              <a:gd name="adj" fmla="val 8672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5794" y="3259559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5799" y="329956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1064419" y="3320951"/>
            <a:ext cx="3271838" cy="222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Waiter Helper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35794" y="3659609"/>
            <a:ext cx="3700463" cy="15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Knows which tables need attention right now. Suggests upsells: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5794" y="3862536"/>
            <a:ext cx="3700463" cy="158969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i="1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"Table 5 ordered Tibs — recommend Tej (honey wine) as a pairing."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5794" y="4060441"/>
            <a:ext cx="3810191" cy="1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Balances workload across waiters.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32722" y="3098825"/>
            <a:ext cx="4050506" cy="1757363"/>
          </a:xfrm>
          <a:prstGeom prst="roundRect">
            <a:avLst>
              <a:gd name="adj" fmla="val 8672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07744" y="3259559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039D5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47749" y="329956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0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688" dirty="0"/>
          </a:p>
        </p:txBody>
      </p:sp>
      <p:sp>
        <p:nvSpPr>
          <p:cNvPr id="29" name="Text 27"/>
          <p:cNvSpPr/>
          <p:nvPr/>
        </p:nvSpPr>
        <p:spPr>
          <a:xfrm>
            <a:off x="5236369" y="3320951"/>
            <a:ext cx="3271838" cy="222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Menu Concierge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4807744" y="3659609"/>
            <a:ext cx="3700463" cy="31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Helps customers discover dishes they'll love. Knows dietary restrictions, allergens, and Ethiopian food culture.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07744" y="4008313"/>
            <a:ext cx="3700463" cy="158969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800" i="1" dirty="0">
                <a:solidFill>
                  <a:srgbClr val="04C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"New to Ethiopian food? Try Doro Wot — it's our most loved dish."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3625" y="-857250"/>
            <a:ext cx="3571875" cy="35718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428625" y="3000375"/>
            <a:ext cx="2857500" cy="2857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6360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01" kern="0" dirty="0">
                <a:solidFill>
                  <a:srgbClr val="04C4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DESIGN TOOLS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2938"/>
            <a:ext cx="8229600" cy="31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Your Restaurant — Visually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7200" y="981484"/>
            <a:ext cx="8636000" cy="19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Tools no other QR ordering platform offers.</a:t>
            </a:r>
            <a:endParaRPr lang="en-US" sz="945" dirty="0"/>
          </a:p>
        </p:txBody>
      </p:sp>
      <p:sp>
        <p:nvSpPr>
          <p:cNvPr id="7" name="Text 5"/>
          <p:cNvSpPr/>
          <p:nvPr/>
        </p:nvSpPr>
        <p:spPr>
          <a:xfrm>
            <a:off x="460772" y="1222139"/>
            <a:ext cx="4593431" cy="3460589"/>
          </a:xfrm>
          <a:prstGeom prst="roundRect">
            <a:avLst>
              <a:gd name="adj" fmla="val 4404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5794" y="1397161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797" y="142216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964406" y="1414351"/>
            <a:ext cx="3914775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17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Floor Plan Editor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635794" y="1740061"/>
            <a:ext cx="4243388" cy="35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Visually recreate your entire restaurant layout. Drag tables, draw walls, add rooms — then link each table to real-time ordering and status tracking.</a:t>
            </a:r>
            <a:endParaRPr lang="en-US" sz="828" dirty="0"/>
          </a:p>
        </p:txBody>
      </p:sp>
      <p:sp>
        <p:nvSpPr>
          <p:cNvPr id="12" name="Text 10"/>
          <p:cNvSpPr/>
          <p:nvPr/>
        </p:nvSpPr>
        <p:spPr>
          <a:xfrm>
            <a:off x="635794" y="2180295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083" y="220458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21544" y="2208870"/>
            <a:ext cx="812392" cy="124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table shapes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14711" y="2216014"/>
            <a:ext cx="3045470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Round, Square, Rectangle, Oval, L-Shape, U-Shape, Booth, High-Top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794" y="2466045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0083" y="249033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21544" y="2494620"/>
            <a:ext cx="1553056" cy="124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Walls, doors, windows, rooms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59558" y="2501764"/>
            <a:ext cx="1156741" cy="125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design your full space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5794" y="2751795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0083" y="277608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⋮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21544" y="2780370"/>
            <a:ext cx="818540" cy="124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Drag-and-drop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19957" y="2787514"/>
            <a:ext cx="1765466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snap-to-grid and alignment guides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5794" y="3037545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0083" y="306183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21544" y="3066120"/>
            <a:ext cx="805458" cy="124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Multiple floors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08795" y="3073264"/>
            <a:ext cx="2108313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manage upstairs and downstairs separately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5794" y="3323295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0083" y="334758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↶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21544" y="3351870"/>
            <a:ext cx="1419742" cy="124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Undo/redo, zoom, minimap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12218" y="3359014"/>
            <a:ext cx="689552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navigation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5794" y="3609045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0083" y="363333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21544" y="3637620"/>
            <a:ext cx="1118801" cy="124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800" dirty="0">
                <a:solidFill>
                  <a:srgbClr val="F0F4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pre-built templates: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21544" y="3644764"/>
            <a:ext cx="3956745" cy="326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Ethiopian Traditional, Modern Coffee House, Fine Dining, Rooftop Bar, Casual Diner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89947" y="1222139"/>
            <a:ext cx="3393281" cy="3548100"/>
          </a:xfrm>
          <a:prstGeom prst="roundRect">
            <a:avLst>
              <a:gd name="adj" fmla="val 4491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464969" y="1397161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89972" y="142216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9" name="Text 37"/>
          <p:cNvSpPr/>
          <p:nvPr/>
        </p:nvSpPr>
        <p:spPr>
          <a:xfrm>
            <a:off x="5793581" y="1414351"/>
            <a:ext cx="2714625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17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QR Codes Your Way</a:t>
            </a:r>
            <a:endParaRPr lang="en-US" sz="1170" dirty="0"/>
          </a:p>
        </p:txBody>
      </p:sp>
      <p:sp>
        <p:nvSpPr>
          <p:cNvPr id="40" name="Text 38"/>
          <p:cNvSpPr/>
          <p:nvPr/>
        </p:nvSpPr>
        <p:spPr>
          <a:xfrm>
            <a:off x="5464969" y="1740061"/>
            <a:ext cx="3043238" cy="35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Choose from 10 beautiful styles — your QR code is the first impression.</a:t>
            </a:r>
            <a:endParaRPr lang="en-US" sz="828" dirty="0"/>
          </a:p>
        </p:txBody>
      </p:sp>
      <p:sp>
        <p:nvSpPr>
          <p:cNvPr id="41" name="Text 39"/>
          <p:cNvSpPr/>
          <p:nvPr/>
        </p:nvSpPr>
        <p:spPr>
          <a:xfrm>
            <a:off x="5468541" y="2183867"/>
            <a:ext cx="3036094" cy="418691"/>
          </a:xfrm>
          <a:prstGeom prst="roundRect">
            <a:avLst>
              <a:gd name="adj" fmla="val 27299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586413" y="2273164"/>
            <a:ext cx="200025" cy="2400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🇪🇹</a:t>
            </a:r>
            <a:endParaRPr lang="en-US" sz="1260" dirty="0"/>
          </a:p>
        </p:txBody>
      </p:sp>
      <p:sp>
        <p:nvSpPr>
          <p:cNvPr id="43" name="Text 41"/>
          <p:cNvSpPr/>
          <p:nvPr/>
        </p:nvSpPr>
        <p:spPr>
          <a:xfrm>
            <a:off x="5872163" y="2336006"/>
            <a:ext cx="599504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Ethiopian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6372337" y="2343150"/>
            <a:ext cx="1377534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Green on gold, flag-inspired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68541" y="2681139"/>
            <a:ext cx="3036094" cy="418691"/>
          </a:xfrm>
          <a:prstGeom prst="roundRect">
            <a:avLst>
              <a:gd name="adj" fmla="val 27299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586413" y="2770436"/>
            <a:ext cx="200025" cy="2400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✨</a:t>
            </a:r>
            <a:endParaRPr lang="en-US" sz="1260" dirty="0"/>
          </a:p>
        </p:txBody>
      </p:sp>
      <p:sp>
        <p:nvSpPr>
          <p:cNvPr id="47" name="Text 45"/>
          <p:cNvSpPr/>
          <p:nvPr/>
        </p:nvSpPr>
        <p:spPr>
          <a:xfrm>
            <a:off x="5872163" y="2833278"/>
            <a:ext cx="53378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Branded</a:t>
            </a:r>
            <a:endParaRPr lang="en-US" sz="810" dirty="0"/>
          </a:p>
        </p:txBody>
      </p:sp>
      <p:sp>
        <p:nvSpPr>
          <p:cNvPr id="48" name="Text 46"/>
          <p:cNvSpPr/>
          <p:nvPr/>
        </p:nvSpPr>
        <p:spPr>
          <a:xfrm>
            <a:off x="6320991" y="2840422"/>
            <a:ext cx="1642022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Your logo embedded in the center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68541" y="3178411"/>
            <a:ext cx="3036094" cy="418691"/>
          </a:xfrm>
          <a:prstGeom prst="roundRect">
            <a:avLst>
              <a:gd name="adj" fmla="val 27299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586413" y="3267708"/>
            <a:ext cx="200025" cy="2400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🏛️</a:t>
            </a:r>
            <a:endParaRPr lang="en-US" sz="1260" dirty="0"/>
          </a:p>
        </p:txBody>
      </p:sp>
      <p:sp>
        <p:nvSpPr>
          <p:cNvPr id="51" name="Text 49"/>
          <p:cNvSpPr/>
          <p:nvPr/>
        </p:nvSpPr>
        <p:spPr>
          <a:xfrm>
            <a:off x="5872163" y="3330550"/>
            <a:ext cx="46929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GERD</a:t>
            </a:r>
            <a:endParaRPr lang="en-US" sz="810" dirty="0"/>
          </a:p>
        </p:txBody>
      </p:sp>
      <p:sp>
        <p:nvSpPr>
          <p:cNvPr id="52" name="Text 50"/>
          <p:cNvSpPr/>
          <p:nvPr/>
        </p:nvSpPr>
        <p:spPr>
          <a:xfrm>
            <a:off x="6200998" y="3337694"/>
            <a:ext cx="1714714" cy="12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Ethiopian Renaissance Dam theme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68541" y="3675683"/>
            <a:ext cx="3036094" cy="418691"/>
          </a:xfrm>
          <a:prstGeom prst="roundRect">
            <a:avLst>
              <a:gd name="adj" fmla="val 27299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586413" y="3764979"/>
            <a:ext cx="200025" cy="2400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💎</a:t>
            </a:r>
            <a:endParaRPr lang="en-US" sz="1260" dirty="0"/>
          </a:p>
        </p:txBody>
      </p:sp>
      <p:sp>
        <p:nvSpPr>
          <p:cNvPr id="55" name="Text 53"/>
          <p:cNvSpPr/>
          <p:nvPr/>
        </p:nvSpPr>
        <p:spPr>
          <a:xfrm>
            <a:off x="5872163" y="3827822"/>
            <a:ext cx="453342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Golden</a:t>
            </a:r>
            <a:endParaRPr lang="en-US" sz="810" dirty="0"/>
          </a:p>
        </p:txBody>
      </p:sp>
      <p:sp>
        <p:nvSpPr>
          <p:cNvPr id="56" name="Text 54"/>
          <p:cNvSpPr/>
          <p:nvPr/>
        </p:nvSpPr>
        <p:spPr>
          <a:xfrm>
            <a:off x="6258148" y="3834966"/>
            <a:ext cx="1214080" cy="125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Luxurious gold on black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68541" y="4172955"/>
            <a:ext cx="3036094" cy="418691"/>
          </a:xfrm>
          <a:prstGeom prst="roundRect">
            <a:avLst>
              <a:gd name="adj" fmla="val 27299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586413" y="4262251"/>
            <a:ext cx="200025" cy="2400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0F4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☕</a:t>
            </a:r>
            <a:endParaRPr lang="en-US" sz="1260" dirty="0"/>
          </a:p>
        </p:txBody>
      </p:sp>
      <p:sp>
        <p:nvSpPr>
          <p:cNvPr id="59" name="Text 57"/>
          <p:cNvSpPr/>
          <p:nvPr/>
        </p:nvSpPr>
        <p:spPr>
          <a:xfrm>
            <a:off x="5872163" y="4325094"/>
            <a:ext cx="409480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Coffee</a:t>
            </a:r>
            <a:endParaRPr lang="en-US" sz="810" dirty="0"/>
          </a:p>
        </p:txBody>
      </p:sp>
      <p:sp>
        <p:nvSpPr>
          <p:cNvPr id="60" name="Text 58"/>
          <p:cNvSpPr/>
          <p:nvPr/>
        </p:nvSpPr>
        <p:spPr>
          <a:xfrm>
            <a:off x="6223881" y="4332238"/>
            <a:ext cx="1149251" cy="125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Ethiopian coffee tones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425120" y="4859536"/>
            <a:ext cx="3122935" cy="219447"/>
          </a:xfrm>
          <a:prstGeom prst="roundRect">
            <a:avLst>
              <a:gd name="adj" fmla="val 4336115"/>
            </a:avLst>
          </a:prstGeom>
          <a:solidFill>
            <a:srgbClr val="039D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668008" y="4916686"/>
            <a:ext cx="2780035" cy="123092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algn="ctr" indent="0" marL="0">
              <a:lnSpc>
                <a:spcPts val="1053"/>
              </a:lnSpc>
              <a:buNone/>
            </a:pPr>
            <a:r>
              <a:rPr lang="en-US" sz="800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TAMPER-PROOF — NO ONE CAN FAKE YOUR QR CODES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525133" y="491925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75" y="-571500"/>
            <a:ext cx="4286250" cy="250031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72250" y="2714625"/>
            <a:ext cx="2857500" cy="2857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6360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01" kern="0" dirty="0">
                <a:solidFill>
                  <a:srgbClr val="04C4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 OPERATIONS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2938"/>
            <a:ext cx="8229600" cy="29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5"/>
              </a:lnSpc>
              <a:buNone/>
            </a:pPr>
            <a:r>
              <a:rPr lang="en-US" sz="193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Everything You Need to Run Your Restaurant</a:t>
            </a:r>
            <a:endParaRPr lang="en-US" sz="1935" dirty="0"/>
          </a:p>
        </p:txBody>
      </p:sp>
      <p:sp>
        <p:nvSpPr>
          <p:cNvPr id="6" name="Text 4"/>
          <p:cNvSpPr/>
          <p:nvPr/>
        </p:nvSpPr>
        <p:spPr>
          <a:xfrm>
            <a:off x="457200" y="968425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platform. Every operation. Full control.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0772" y="1286321"/>
            <a:ext cx="2640732" cy="1623194"/>
          </a:xfrm>
          <a:prstGeom prst="roundRect">
            <a:avLst>
              <a:gd name="adj" fmla="val 9389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5794" y="1447056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8655" y="147991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1035844" y="1509899"/>
            <a:ext cx="189063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Staff &amp; Roles</a:t>
            </a:r>
            <a:endParaRPr lang="en-US" sz="990" dirty="0"/>
          </a:p>
        </p:txBody>
      </p:sp>
      <p:sp>
        <p:nvSpPr>
          <p:cNvPr id="11" name="Text 9"/>
          <p:cNvSpPr/>
          <p:nvPr/>
        </p:nvSpPr>
        <p:spPr>
          <a:xfrm>
            <a:off x="635794" y="1832818"/>
            <a:ext cx="2290688" cy="50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roles — Owner, Manager, Cashier, Waiter, Kitchen Staff. Each sees only what they need. Add custom permissions per person.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51522" y="1286321"/>
            <a:ext cx="2640843" cy="1623194"/>
          </a:xfrm>
          <a:prstGeom prst="roundRect">
            <a:avLst>
              <a:gd name="adj" fmla="val 9389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6544" y="1447056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59406" y="147991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3826594" y="1509899"/>
            <a:ext cx="189075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Shifts &amp; Scheduling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3426544" y="1832818"/>
            <a:ext cx="2290800" cy="339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shifts, assign staff, track clock-in/out and breaks. See who's working today at a glance.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42385" y="1286321"/>
            <a:ext cx="2640732" cy="1623194"/>
          </a:xfrm>
          <a:prstGeom prst="roundRect">
            <a:avLst>
              <a:gd name="adj" fmla="val 9389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17407" y="1447056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50268" y="147991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6617457" y="1509899"/>
            <a:ext cx="189063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 Inventory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6217407" y="1832818"/>
            <a:ext cx="2290688" cy="67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 stock levels. Get alerts before you run out. When an ingredient runs low, the dish auto-marks as unavailable — no more serving items you can't make.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0772" y="3059534"/>
            <a:ext cx="2640732" cy="1623194"/>
          </a:xfrm>
          <a:prstGeom prst="roundRect">
            <a:avLst>
              <a:gd name="adj" fmla="val 9389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5794" y="322026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8655" y="325313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688" dirty="0"/>
          </a:p>
        </p:txBody>
      </p:sp>
      <p:sp>
        <p:nvSpPr>
          <p:cNvPr id="25" name="Text 23"/>
          <p:cNvSpPr/>
          <p:nvPr/>
        </p:nvSpPr>
        <p:spPr>
          <a:xfrm>
            <a:off x="1035844" y="3283111"/>
            <a:ext cx="189063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Promotions &amp; Deals</a:t>
            </a:r>
            <a:endParaRPr lang="en-US" sz="990" dirty="0"/>
          </a:p>
        </p:txBody>
      </p:sp>
      <p:sp>
        <p:nvSpPr>
          <p:cNvPr id="26" name="Text 24"/>
          <p:cNvSpPr/>
          <p:nvPr/>
        </p:nvSpPr>
        <p:spPr>
          <a:xfrm>
            <a:off x="635794" y="3606031"/>
            <a:ext cx="2290688" cy="67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discounts, coupons, happy hours, and combo deals. Set rules — minimum order, usage limits, expiry dates. Customers apply them right in the cart.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51522" y="3059534"/>
            <a:ext cx="2640843" cy="1623194"/>
          </a:xfrm>
          <a:prstGeom prst="roundRect">
            <a:avLst>
              <a:gd name="adj" fmla="val 9389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26544" y="322026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59406" y="325313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3826594" y="3283111"/>
            <a:ext cx="189075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Reservations</a:t>
            </a:r>
            <a:endParaRPr lang="en-US" sz="990" dirty="0"/>
          </a:p>
        </p:txBody>
      </p:sp>
      <p:sp>
        <p:nvSpPr>
          <p:cNvPr id="31" name="Text 29"/>
          <p:cNvSpPr/>
          <p:nvPr/>
        </p:nvSpPr>
        <p:spPr>
          <a:xfrm>
            <a:off x="3426544" y="3606031"/>
            <a:ext cx="2290800" cy="50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Calendar view with table assignment. Customers can book online. Staff can manage walk-ins. See party size, special requests, and timing.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42385" y="3059534"/>
            <a:ext cx="2640732" cy="1623194"/>
          </a:xfrm>
          <a:prstGeom prst="roundRect">
            <a:avLst>
              <a:gd name="adj" fmla="val 9389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17407" y="322026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50268" y="325313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688" dirty="0"/>
          </a:p>
        </p:txBody>
      </p:sp>
      <p:sp>
        <p:nvSpPr>
          <p:cNvPr id="35" name="Text 33"/>
          <p:cNvSpPr/>
          <p:nvPr/>
        </p:nvSpPr>
        <p:spPr>
          <a:xfrm>
            <a:off x="6617457" y="3283111"/>
            <a:ext cx="189063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Reviews &amp; Feedback</a:t>
            </a:r>
            <a:endParaRPr lang="en-US" sz="990" dirty="0"/>
          </a:p>
        </p:txBody>
      </p:sp>
      <p:sp>
        <p:nvSpPr>
          <p:cNvPr id="36" name="Text 34"/>
          <p:cNvSpPr/>
          <p:nvPr/>
        </p:nvSpPr>
        <p:spPr>
          <a:xfrm>
            <a:off x="6217407" y="3606031"/>
            <a:ext cx="2290688" cy="50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what customers really think. Star ratings, written feedback, reply to reviews. Average rating displayed prominently on your dashboard.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00750" y="-714375"/>
            <a:ext cx="3571875" cy="32146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357187" y="2857500"/>
            <a:ext cx="3214688" cy="2857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6360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01" kern="0" dirty="0">
                <a:solidFill>
                  <a:srgbClr val="04C4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COMPETITIVE ADVANTAGE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2938"/>
            <a:ext cx="8229600" cy="29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5"/>
              </a:lnSpc>
              <a:buNone/>
            </a:pPr>
            <a:r>
              <a:rPr lang="en-US" sz="193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No Other Platform Can Do</a:t>
            </a:r>
            <a:endParaRPr lang="en-US" sz="1935" dirty="0"/>
          </a:p>
        </p:txBody>
      </p:sp>
      <p:sp>
        <p:nvSpPr>
          <p:cNvPr id="6" name="Text 4"/>
          <p:cNvSpPr/>
          <p:nvPr/>
        </p:nvSpPr>
        <p:spPr>
          <a:xfrm>
            <a:off x="457200" y="968425"/>
            <a:ext cx="82296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These features don't exist anywhere else — and they make all the difference.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0772" y="1272034"/>
            <a:ext cx="4050506" cy="1168450"/>
          </a:xfrm>
          <a:prstGeom prst="roundRect">
            <a:avLst>
              <a:gd name="adj" fmla="val 13043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418481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0438" y="144741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0" name="Text 8"/>
          <p:cNvSpPr/>
          <p:nvPr/>
        </p:nvSpPr>
        <p:spPr>
          <a:xfrm>
            <a:off x="955834" y="1467107"/>
            <a:ext cx="642446" cy="194524"/>
          </a:xfrm>
          <a:prstGeom prst="roundRect">
            <a:avLst>
              <a:gd name="adj" fmla="val 4891671"/>
            </a:avLst>
          </a:prstGeom>
          <a:solidFill>
            <a:srgbClr val="039D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64431" y="1520391"/>
            <a:ext cx="33955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800" b="1" spc="4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UNIQUE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0131" y="152150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621506" y="1775668"/>
            <a:ext cx="3729038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Floor Plan Editor</a:t>
            </a:r>
            <a:endParaRPr lang="en-US" sz="945" dirty="0"/>
          </a:p>
        </p:txBody>
      </p:sp>
      <p:sp>
        <p:nvSpPr>
          <p:cNvPr id="14" name="Text 12"/>
          <p:cNvSpPr/>
          <p:nvPr/>
        </p:nvSpPr>
        <p:spPr>
          <a:xfrm>
            <a:off x="621506" y="2012752"/>
            <a:ext cx="3729038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other QR ordering platform lets you visually design your restaurant layout and link it to live ordering. Not GloriaFood, not Mr Yum, not Sunday.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32722" y="1272034"/>
            <a:ext cx="4050506" cy="1168450"/>
          </a:xfrm>
          <a:prstGeom prst="roundRect">
            <a:avLst>
              <a:gd name="adj" fmla="val 13043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3456" y="1418481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2388" y="144741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8" name="Text 16"/>
          <p:cNvSpPr/>
          <p:nvPr/>
        </p:nvSpPr>
        <p:spPr>
          <a:xfrm>
            <a:off x="5127784" y="1467107"/>
            <a:ext cx="642446" cy="194524"/>
          </a:xfrm>
          <a:prstGeom prst="roundRect">
            <a:avLst>
              <a:gd name="adj" fmla="val 4891671"/>
            </a:avLst>
          </a:prstGeom>
          <a:solidFill>
            <a:srgbClr val="039D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36381" y="1520391"/>
            <a:ext cx="33955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800" b="1" spc="4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UNIQUE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22081" y="152150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4793456" y="1775668"/>
            <a:ext cx="3729038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Built-In Entertainment</a:t>
            </a:r>
            <a:endParaRPr lang="en-US" sz="945" dirty="0"/>
          </a:p>
        </p:txBody>
      </p:sp>
      <p:sp>
        <p:nvSpPr>
          <p:cNvPr id="22" name="Text 20"/>
          <p:cNvSpPr/>
          <p:nvPr/>
        </p:nvSpPr>
        <p:spPr>
          <a:xfrm>
            <a:off x="4793456" y="2012752"/>
            <a:ext cx="3729038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Snake, 2048, Memory, Trivia, Ethiopian food facts — no competitor globally offers in-app games while customers wait.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772" y="2561927"/>
            <a:ext cx="4050506" cy="1168450"/>
          </a:xfrm>
          <a:prstGeom prst="roundRect">
            <a:avLst>
              <a:gd name="adj" fmla="val 13043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1506" y="2708374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0438" y="273730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955834" y="2745986"/>
            <a:ext cx="1097972" cy="210526"/>
          </a:xfrm>
          <a:prstGeom prst="roundRect">
            <a:avLst>
              <a:gd name="adj" fmla="val 4519857"/>
            </a:avLst>
          </a:prstGeom>
          <a:noFill/>
          <a:ln w="7144">
            <a:solidFill>
              <a:srgbClr val="039D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71575" y="2807271"/>
            <a:ext cx="7807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800" b="1" spc="49" kern="0" dirty="0">
                <a:solidFill>
                  <a:srgbClr val="04C4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ON YENEQR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7275" y="280838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621506" y="3065562"/>
            <a:ext cx="3729038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0F4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Languages, 5 Ethiopian</a:t>
            </a:r>
            <a:endParaRPr lang="en-US" sz="945" dirty="0"/>
          </a:p>
        </p:txBody>
      </p:sp>
      <p:sp>
        <p:nvSpPr>
          <p:cNvPr id="30" name="Text 28"/>
          <p:cNvSpPr/>
          <p:nvPr/>
        </p:nvSpPr>
        <p:spPr>
          <a:xfrm>
            <a:off x="621506" y="3302645"/>
            <a:ext cx="3729038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Amharic, Oromo, Tigrinya, Somali, Afar, Sidamo + 7 international. Most competitors offer 2-5 languages total.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32722" y="2561927"/>
            <a:ext cx="4050506" cy="1168450"/>
          </a:xfrm>
          <a:prstGeom prst="roundRect">
            <a:avLst>
              <a:gd name="adj" fmla="val 13043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93456" y="2708374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22388" y="273730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547" dirty="0"/>
          </a:p>
        </p:txBody>
      </p:sp>
      <p:sp>
        <p:nvSpPr>
          <p:cNvPr id="34" name="Text 32"/>
          <p:cNvSpPr/>
          <p:nvPr/>
        </p:nvSpPr>
        <p:spPr>
          <a:xfrm>
            <a:off x="5127784" y="2745986"/>
            <a:ext cx="1097972" cy="210526"/>
          </a:xfrm>
          <a:prstGeom prst="roundRect">
            <a:avLst>
              <a:gd name="adj" fmla="val 4519857"/>
            </a:avLst>
          </a:prstGeom>
          <a:noFill/>
          <a:ln w="7144">
            <a:solidFill>
              <a:srgbClr val="039D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43525" y="2807271"/>
            <a:ext cx="7807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800" b="1" spc="49" kern="0" dirty="0">
                <a:solidFill>
                  <a:srgbClr val="04C4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ON YENEQR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29225" y="280838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4793456" y="3065562"/>
            <a:ext cx="3729038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Ethiopian Payments</a:t>
            </a:r>
            <a:endParaRPr lang="en-US" sz="945" dirty="0"/>
          </a:p>
        </p:txBody>
      </p:sp>
      <p:sp>
        <p:nvSpPr>
          <p:cNvPr id="38" name="Text 36"/>
          <p:cNvSpPr/>
          <p:nvPr/>
        </p:nvSpPr>
        <p:spPr>
          <a:xfrm>
            <a:off x="4793456" y="3302645"/>
            <a:ext cx="3729038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Telebirr, Chapa, CBE Birr — built for how Ethiopians actually pay. No foreign payment systems.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0772" y="3851821"/>
            <a:ext cx="4050506" cy="1168450"/>
          </a:xfrm>
          <a:prstGeom prst="roundRect">
            <a:avLst>
              <a:gd name="adj" fmla="val 13043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1506" y="3998268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50438" y="40272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2" name="Text 40"/>
          <p:cNvSpPr/>
          <p:nvPr/>
        </p:nvSpPr>
        <p:spPr>
          <a:xfrm>
            <a:off x="955834" y="4035879"/>
            <a:ext cx="1097972" cy="210526"/>
          </a:xfrm>
          <a:prstGeom prst="roundRect">
            <a:avLst>
              <a:gd name="adj" fmla="val 4519857"/>
            </a:avLst>
          </a:prstGeom>
          <a:noFill/>
          <a:ln w="7144">
            <a:solidFill>
              <a:srgbClr val="039D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171575" y="4097164"/>
            <a:ext cx="7807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800" b="1" spc="49" kern="0" dirty="0">
                <a:solidFill>
                  <a:srgbClr val="04C4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ON YENEQR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57275" y="409828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621506" y="4355455"/>
            <a:ext cx="3729038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0F4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AI Agents</a:t>
            </a:r>
            <a:endParaRPr lang="en-US" sz="945" dirty="0"/>
          </a:p>
        </p:txBody>
      </p:sp>
      <p:sp>
        <p:nvSpPr>
          <p:cNvPr id="46" name="Text 44"/>
          <p:cNvSpPr/>
          <p:nvPr/>
        </p:nvSpPr>
        <p:spPr>
          <a:xfrm>
            <a:off x="621506" y="4592538"/>
            <a:ext cx="3729038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one generic chatbot — a Business Advisor, Kitchen Assistant, Waiter Helper, and Menu Concierge, each with real data access.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32722" y="3851821"/>
            <a:ext cx="4050506" cy="1168450"/>
          </a:xfrm>
          <a:prstGeom prst="roundRect">
            <a:avLst>
              <a:gd name="adj" fmla="val 13043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93456" y="3998268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822388" y="40272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547" dirty="0"/>
          </a:p>
        </p:txBody>
      </p:sp>
      <p:sp>
        <p:nvSpPr>
          <p:cNvPr id="50" name="Text 48"/>
          <p:cNvSpPr/>
          <p:nvPr/>
        </p:nvSpPr>
        <p:spPr>
          <a:xfrm>
            <a:off x="5127784" y="4035879"/>
            <a:ext cx="1097972" cy="210526"/>
          </a:xfrm>
          <a:prstGeom prst="roundRect">
            <a:avLst>
              <a:gd name="adj" fmla="val 4519857"/>
            </a:avLst>
          </a:prstGeom>
          <a:noFill/>
          <a:ln w="7144">
            <a:solidFill>
              <a:srgbClr val="039D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343525" y="4097164"/>
            <a:ext cx="7807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800" b="1" spc="49" kern="0" dirty="0">
                <a:solidFill>
                  <a:srgbClr val="04C4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ON YENEQR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229225" y="409828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53" name="Text 51"/>
          <p:cNvSpPr/>
          <p:nvPr/>
        </p:nvSpPr>
        <p:spPr>
          <a:xfrm>
            <a:off x="4793456" y="4355455"/>
            <a:ext cx="3729038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Inventory → Menu Linkage</a:t>
            </a:r>
            <a:endParaRPr lang="en-US" sz="945" dirty="0"/>
          </a:p>
        </p:txBody>
      </p:sp>
      <p:sp>
        <p:nvSpPr>
          <p:cNvPr id="54" name="Text 52"/>
          <p:cNvSpPr/>
          <p:nvPr/>
        </p:nvSpPr>
        <p:spPr>
          <a:xfrm>
            <a:off x="4793456" y="4592538"/>
            <a:ext cx="3729038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stock runs out, the dish auto-marks unavailable. When stock returns, it's back. No manual updates needed.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-428625"/>
            <a:ext cx="3571875" cy="250031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72250" y="2857500"/>
            <a:ext cx="2857500" cy="2857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6360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01" kern="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2938"/>
            <a:ext cx="8229600" cy="29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5"/>
              </a:lnSpc>
              <a:buNone/>
            </a:pPr>
            <a:r>
              <a:rPr lang="en-US" sz="193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 We're Just Getting Started</a:t>
            </a:r>
            <a:endParaRPr lang="en-US" sz="1935" dirty="0"/>
          </a:p>
        </p:txBody>
      </p:sp>
      <p:sp>
        <p:nvSpPr>
          <p:cNvPr id="6" name="Text 4"/>
          <p:cNvSpPr/>
          <p:nvPr/>
        </p:nvSpPr>
        <p:spPr>
          <a:xfrm>
            <a:off x="457200" y="968425"/>
            <a:ext cx="82296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YeneQR is already the most feature-rich QR restaurant platform in Africa — and we're building more every month.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0772" y="1257746"/>
            <a:ext cx="2659819" cy="1467148"/>
          </a:xfrm>
          <a:prstGeom prst="roundRect">
            <a:avLst>
              <a:gd name="adj" fmla="val 10388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511350"/>
            <a:ext cx="71438" cy="7143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95250" dist="50800" dir="16200000">
              <a:srgbClr val="F59E0B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4381" y="1404193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3313" y="143312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621506" y="1747093"/>
            <a:ext cx="2338350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 &amp; Takeaway</a:t>
            </a:r>
            <a:endParaRPr lang="en-US" sz="945" dirty="0"/>
          </a:p>
        </p:txBody>
      </p:sp>
      <p:sp>
        <p:nvSpPr>
          <p:cNvPr id="12" name="Text 10"/>
          <p:cNvSpPr/>
          <p:nvPr/>
        </p:nvSpPr>
        <p:spPr>
          <a:xfrm>
            <a:off x="621506" y="1984177"/>
            <a:ext cx="2338350" cy="32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customers order for delivery or pickup from the same QR menu they already love.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42035" y="1257746"/>
            <a:ext cx="2659819" cy="1467148"/>
          </a:xfrm>
          <a:prstGeom prst="roundRect">
            <a:avLst>
              <a:gd name="adj" fmla="val 10388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02769" y="1511350"/>
            <a:ext cx="71438" cy="7143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95250" dist="50800" dir="16200000">
              <a:srgbClr val="F59E0B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45644" y="1404193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74576" y="143312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7" name="Text 15"/>
          <p:cNvSpPr/>
          <p:nvPr/>
        </p:nvSpPr>
        <p:spPr>
          <a:xfrm>
            <a:off x="3402769" y="1747093"/>
            <a:ext cx="2338350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Menu Personalization</a:t>
            </a:r>
            <a:endParaRPr lang="en-US" sz="945" dirty="0"/>
          </a:p>
        </p:txBody>
      </p:sp>
      <p:sp>
        <p:nvSpPr>
          <p:cNvPr id="18" name="Text 16"/>
          <p:cNvSpPr/>
          <p:nvPr/>
        </p:nvSpPr>
        <p:spPr>
          <a:xfrm>
            <a:off x="3402769" y="1984177"/>
            <a:ext cx="2338350" cy="493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"Recommended for You" — each customer sees personalized dish suggestions based on their order history and preferences.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23297" y="1257746"/>
            <a:ext cx="2659931" cy="1467148"/>
          </a:xfrm>
          <a:prstGeom prst="roundRect">
            <a:avLst>
              <a:gd name="adj" fmla="val 10388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84032" y="1511350"/>
            <a:ext cx="71438" cy="7143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95250" dist="50800" dir="16200000">
              <a:srgbClr val="F59E0B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6907" y="1404193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5839" y="143312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3" name="Text 21"/>
          <p:cNvSpPr/>
          <p:nvPr/>
        </p:nvSpPr>
        <p:spPr>
          <a:xfrm>
            <a:off x="6184032" y="1747093"/>
            <a:ext cx="2338462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 Integration</a:t>
            </a:r>
            <a:endParaRPr lang="en-US" sz="945" dirty="0"/>
          </a:p>
        </p:txBody>
      </p:sp>
      <p:sp>
        <p:nvSpPr>
          <p:cNvPr id="24" name="Text 22"/>
          <p:cNvSpPr/>
          <p:nvPr/>
        </p:nvSpPr>
        <p:spPr>
          <a:xfrm>
            <a:off x="6184032" y="1984177"/>
            <a:ext cx="2338462" cy="32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 YeneQR to your existing point-of-sale system. One source of truth for all orders.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0772" y="2846338"/>
            <a:ext cx="2659819" cy="1467148"/>
          </a:xfrm>
          <a:prstGeom prst="roundRect">
            <a:avLst>
              <a:gd name="adj" fmla="val 10388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1506" y="3099941"/>
            <a:ext cx="71438" cy="7143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95250" dist="50800" dir="16200000">
              <a:srgbClr val="F59E0B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4381" y="2992785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93313" y="302171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621506" y="3335685"/>
            <a:ext cx="2338350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Group Ordering</a:t>
            </a:r>
            <a:endParaRPr lang="en-US" sz="945" dirty="0"/>
          </a:p>
        </p:txBody>
      </p:sp>
      <p:sp>
        <p:nvSpPr>
          <p:cNvPr id="30" name="Text 28"/>
          <p:cNvSpPr/>
          <p:nvPr/>
        </p:nvSpPr>
        <p:spPr>
          <a:xfrm>
            <a:off x="621506" y="3572768"/>
            <a:ext cx="2338350" cy="32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Friends at the same table can add to a shared order from their own phones — no passing phones around.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42035" y="2846338"/>
            <a:ext cx="2659819" cy="1467148"/>
          </a:xfrm>
          <a:prstGeom prst="roundRect">
            <a:avLst>
              <a:gd name="adj" fmla="val 10388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02769" y="3099941"/>
            <a:ext cx="71438" cy="7143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95250" dist="50800" dir="16200000">
              <a:srgbClr val="F59E0B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545644" y="2992785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74576" y="302171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5" name="Text 33"/>
          <p:cNvSpPr/>
          <p:nvPr/>
        </p:nvSpPr>
        <p:spPr>
          <a:xfrm>
            <a:off x="3402769" y="3335685"/>
            <a:ext cx="2338350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Self-Service Kiosk</a:t>
            </a:r>
            <a:endParaRPr lang="en-US" sz="945" dirty="0"/>
          </a:p>
        </p:txBody>
      </p:sp>
      <p:sp>
        <p:nvSpPr>
          <p:cNvPr id="36" name="Text 34"/>
          <p:cNvSpPr/>
          <p:nvPr/>
        </p:nvSpPr>
        <p:spPr>
          <a:xfrm>
            <a:off x="3402769" y="3572768"/>
            <a:ext cx="2338350" cy="32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Perfect for fast-casual and cafeterias. Customers order at a screen, pick up at the counter.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23297" y="2846338"/>
            <a:ext cx="2659931" cy="1467148"/>
          </a:xfrm>
          <a:prstGeom prst="roundRect">
            <a:avLst>
              <a:gd name="adj" fmla="val 10388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84032" y="3099941"/>
            <a:ext cx="71438" cy="7143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95250" dist="50800" dir="16200000">
              <a:srgbClr val="F59E0B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26907" y="2992785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55839" y="302171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547" dirty="0"/>
          </a:p>
        </p:txBody>
      </p:sp>
      <p:sp>
        <p:nvSpPr>
          <p:cNvPr id="41" name="Text 39"/>
          <p:cNvSpPr/>
          <p:nvPr/>
        </p:nvSpPr>
        <p:spPr>
          <a:xfrm>
            <a:off x="6184032" y="3335685"/>
            <a:ext cx="2338462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Social Ordering</a:t>
            </a:r>
            <a:endParaRPr lang="en-US" sz="945" dirty="0"/>
          </a:p>
        </p:txBody>
      </p:sp>
      <p:sp>
        <p:nvSpPr>
          <p:cNvPr id="42" name="Text 40"/>
          <p:cNvSpPr/>
          <p:nvPr/>
        </p:nvSpPr>
        <p:spPr>
          <a:xfrm>
            <a:off x="6184032" y="3572768"/>
            <a:ext cx="2338462" cy="32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Share your order with friends. See what's popular. Order what others are loving right now.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335671" y="4420642"/>
            <a:ext cx="4472546" cy="262086"/>
          </a:xfrm>
          <a:prstGeom prst="roundRect">
            <a:avLst>
              <a:gd name="adj" fmla="val 3630669"/>
            </a:avLst>
          </a:prstGeom>
          <a:solidFill>
            <a:srgbClr val="039D55">
              <a:alpha val="15000"/>
            </a:srgbClr>
          </a:solidFill>
          <a:ln w="7144">
            <a:solidFill>
              <a:srgbClr val="039D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624993" y="4495651"/>
            <a:ext cx="4051064" cy="125451"/>
          </a:xfrm>
          <a:prstGeom prst="rect">
            <a:avLst/>
          </a:prstGeom>
          <a:noFill/>
          <a:ln/>
        </p:spPr>
        <p:txBody>
          <a:bodyPr wrap="square" lIns="128588" tIns="57150" rIns="128588" bIns="57150" rtlCol="0" anchor="t"/>
          <a:lstStyle/>
          <a:p>
            <a:pPr algn="ctr" indent="0" marL="0">
              <a:lnSpc>
                <a:spcPts val="1107"/>
              </a:lnSpc>
              <a:buNone/>
            </a:pPr>
            <a:r>
              <a:rPr lang="en-US" sz="800" spc="59" kern="0" dirty="0">
                <a:solidFill>
                  <a:srgbClr val="04C4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FEEDBACK SHAPES OUR ROADMAP — TELL US WHAT YOU NEED NEXT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467831" y="449453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71688" y="785813"/>
            <a:ext cx="5000625" cy="35718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71600" y="1028700"/>
            <a:ext cx="2143125" cy="21431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72088" y="2228850"/>
            <a:ext cx="2500313" cy="21431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svg-1781507743186-xe00z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135856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793081"/>
            <a:ext cx="8595248" cy="42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Let's Transform Your Restaurant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2865126" y="2287339"/>
            <a:ext cx="34136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QR code. One platform. Every tool you need.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1495946" y="2805261"/>
            <a:ext cx="1430759" cy="615702"/>
          </a:xfrm>
          <a:prstGeom prst="roundRect">
            <a:avLst>
              <a:gd name="adj" fmla="val 21658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670968" y="2955950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703829" y="298881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11" name="Text 8"/>
          <p:cNvSpPr/>
          <p:nvPr/>
        </p:nvSpPr>
        <p:spPr>
          <a:xfrm>
            <a:off x="2085305" y="2951708"/>
            <a:ext cx="666378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085305" y="3094583"/>
            <a:ext cx="66637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yeneqr.com</a:t>
            </a:r>
            <a:endParaRPr lang="en-US" sz="945" dirty="0"/>
          </a:p>
        </p:txBody>
      </p:sp>
      <p:sp>
        <p:nvSpPr>
          <p:cNvPr id="13" name="Text 10"/>
          <p:cNvSpPr/>
          <p:nvPr/>
        </p:nvSpPr>
        <p:spPr>
          <a:xfrm>
            <a:off x="3105299" y="2805261"/>
            <a:ext cx="2200945" cy="615702"/>
          </a:xfrm>
          <a:prstGeom prst="roundRect">
            <a:avLst>
              <a:gd name="adj" fmla="val 21658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80321" y="2955950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313182" y="298881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688" dirty="0"/>
          </a:p>
        </p:txBody>
      </p:sp>
      <p:sp>
        <p:nvSpPr>
          <p:cNvPr id="16" name="Text 13"/>
          <p:cNvSpPr/>
          <p:nvPr/>
        </p:nvSpPr>
        <p:spPr>
          <a:xfrm>
            <a:off x="3694658" y="2951708"/>
            <a:ext cx="14365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BY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694658" y="3094583"/>
            <a:ext cx="14365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Repux Technologies PLC</a:t>
            </a:r>
            <a:endParaRPr lang="en-US" sz="945" dirty="0"/>
          </a:p>
        </p:txBody>
      </p:sp>
      <p:sp>
        <p:nvSpPr>
          <p:cNvPr id="18" name="Text 15"/>
          <p:cNvSpPr/>
          <p:nvPr/>
        </p:nvSpPr>
        <p:spPr>
          <a:xfrm>
            <a:off x="5484837" y="2805261"/>
            <a:ext cx="2163105" cy="615702"/>
          </a:xfrm>
          <a:prstGeom prst="roundRect">
            <a:avLst>
              <a:gd name="adj" fmla="val 21658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659859" y="2955950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39D5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692720" y="298881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4C46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1" name="Text 18"/>
          <p:cNvSpPr/>
          <p:nvPr/>
        </p:nvSpPr>
        <p:spPr>
          <a:xfrm>
            <a:off x="6074197" y="2951708"/>
            <a:ext cx="1398724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074197" y="3094583"/>
            <a:ext cx="139872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945" dirty="0">
                <a:solidFill>
                  <a:srgbClr val="F0F4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SolomonZinabu/YeneQR</a:t>
            </a:r>
            <a:endParaRPr lang="en-US" sz="945" dirty="0"/>
          </a:p>
        </p:txBody>
      </p:sp>
      <p:sp>
        <p:nvSpPr>
          <p:cNvPr id="23" name="Text 20"/>
          <p:cNvSpPr/>
          <p:nvPr/>
        </p:nvSpPr>
        <p:spPr>
          <a:xfrm>
            <a:off x="2426084" y="3710285"/>
            <a:ext cx="4291719" cy="297247"/>
          </a:xfrm>
          <a:prstGeom prst="roundRect">
            <a:avLst>
              <a:gd name="adj" fmla="val 3201201"/>
            </a:avLst>
          </a:prstGeom>
          <a:solidFill>
            <a:srgbClr val="039D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426084" y="3710285"/>
            <a:ext cx="4291719" cy="321027"/>
          </a:xfrm>
          <a:prstGeom prst="rect">
            <a:avLst/>
          </a:prstGeom>
          <a:noFill/>
          <a:ln/>
        </p:spPr>
        <p:txBody>
          <a:bodyPr wrap="square" lIns="171450" tIns="71438" rIns="171450" bIns="71438" rtlCol="0" anchor="t"/>
          <a:lstStyle/>
          <a:p>
            <a:pPr algn="ctr" indent="0" marL="0">
              <a:lnSpc>
                <a:spcPts val="1215"/>
              </a:lnSpc>
              <a:buNone/>
            </a:pPr>
            <a:r>
              <a:rPr lang="en-US" sz="810" spc="1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 LANGUAGES • 4 AI AGENTS • ETHIOPIAN PAYMENTS • BUILT FOR AFRICA</a:t>
            </a:r>
            <a:endParaRPr lang="en-US" sz="8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2026-06-15T07:15:43Z</dcterms:created>
  <dcterms:modified xsi:type="dcterms:W3CDTF">2026-06-15T07:15:43Z</dcterms:modified>
</cp:coreProperties>
</file>